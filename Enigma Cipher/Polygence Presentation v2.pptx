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2" r:id="rId1"/>
  </p:sldMasterIdLst>
  <p:notesMasterIdLst>
    <p:notesMasterId r:id="rId23"/>
  </p:notesMasterIdLst>
  <p:sldIdLst>
    <p:sldId id="256" r:id="rId2"/>
    <p:sldId id="257" r:id="rId3"/>
    <p:sldId id="27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libri Light" panose="020F0302020204030204" pitchFamily="34" charset="0"/>
      <p:regular r:id="rId28"/>
      <p:italic r:id="rId29"/>
    </p:embeddedFont>
    <p:embeddedFont>
      <p:font typeface="Lato" panose="020F0502020204030203" pitchFamily="3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7" d="100"/>
          <a:sy n="107" d="100"/>
        </p:scale>
        <p:origin x="758" y="11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60a7de79fd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60a7de79fd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761be7de99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761be7de99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761be7de9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761be7de99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dc075e7f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6dc075e7f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61be7de9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761be7de9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761be7de99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761be7de99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761be7de9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761be7de9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761be7de99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761be7de99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61be7de9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61be7de9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61be7de99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61be7de99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61be7de9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61be7de99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761be7de9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61be7de9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61be7de9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61be7de9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761be7de99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761be7de99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761be7de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761be7de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761be7de9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761be7de9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761be7de99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761be7de99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761be7de9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761be7de9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761be7de99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761be7de99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782553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198239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497429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6954884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334429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0547381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238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4337039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869925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701361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11186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292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086803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Enigma Cipher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5" y="3172900"/>
            <a:ext cx="41853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Prashaant Mudgala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Mentor: Nolan Ashvin Miranda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5" name="Rectangle 114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628650" y="273843"/>
            <a:ext cx="3938487" cy="135547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4400"/>
              <a:t>Enigma Cipher</a:t>
            </a:r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132159" y="1371353"/>
            <a:ext cx="4434978" cy="3498303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228600" lvl="0" indent="0" defTabSz="91440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 sz="1500" dirty="0"/>
              <a:t>The Enigma cipher was developed in the 20th century and highly used during WWII.</a:t>
            </a:r>
          </a:p>
          <a:p>
            <a:pPr marL="457200" lvl="0" indent="-228600" defTabSz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The Cipher was one of the most powerful at the time and the only way to decipher a text encrypted by the cipher was to obtain the key. </a:t>
            </a:r>
          </a:p>
          <a:p>
            <a:pPr marL="457200" lvl="0" indent="-228600" defTabSz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The machine was put into use by various militaries such as Nazi Germany to communicate secretly among themselves.</a:t>
            </a: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3"/>
          <a:srcRect b="147"/>
          <a:stretch/>
        </p:blipFill>
        <p:spPr>
          <a:xfrm>
            <a:off x="4671911" y="10"/>
            <a:ext cx="4472089" cy="51434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AF4AC-DDA8-7B39-BC08-569145B6B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Does Encryption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73DD-2926-82B7-2201-ECC3B3DF0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42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473202" y="480060"/>
            <a:ext cx="6616970" cy="111099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ctr" defTabSz="914400">
              <a:spcBef>
                <a:spcPct val="0"/>
              </a:spcBef>
              <a:spcAft>
                <a:spcPts val="0"/>
              </a:spcAft>
            </a:pPr>
            <a:endParaRPr lang="en-US" sz="3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4574286" y="1696129"/>
            <a:ext cx="499378" cy="173259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pt-BR" sz="896" b="1" u="sng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pt-BR" sz="896" b="1" u="sng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B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pt-BR" sz="896" b="1" u="sng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pt-BR" sz="896" b="1" u="sng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pt-BR" sz="896" b="1" u="sng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E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pt-BR" sz="896" b="1" u="sng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F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pt-BR" sz="896" b="1" u="sng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</a:t>
            </a:r>
            <a:endParaRPr lang="pt-BR" sz="1600" b="1" u="sng">
              <a:solidFill>
                <a:schemeClr val="bg1"/>
              </a:solidFill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5486025" y="1696129"/>
            <a:ext cx="499378" cy="173259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es-ES" sz="896" b="1" u="sng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es-ES" sz="896" b="1" u="sng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es-ES" sz="896" b="1" u="sng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es-ES" sz="896" b="1" u="sng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Q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es-ES" sz="896" b="1" u="sng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es-ES" sz="896" b="1" u="sng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</a:t>
            </a:r>
          </a:p>
          <a:p>
            <a:pPr algn="ctr" defTabSz="256032">
              <a:lnSpc>
                <a:spcPct val="150000"/>
              </a:lnSpc>
              <a:spcAft>
                <a:spcPts val="600"/>
              </a:spcAft>
            </a:pPr>
            <a:r>
              <a:rPr lang="es-ES" sz="896" b="1" u="sng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L</a:t>
            </a:r>
            <a:endParaRPr lang="es-ES" sz="1600" b="1" u="sng">
              <a:solidFill>
                <a:schemeClr val="bg1"/>
              </a:solidFill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5091841" y="1904049"/>
            <a:ext cx="394183" cy="55543"/>
          </a:xfrm>
          <a:prstGeom prst="rightArrow">
            <a:avLst>
              <a:gd name="adj1" fmla="val 50000"/>
              <a:gd name="adj2" fmla="val 110227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5091841" y="2098897"/>
            <a:ext cx="394183" cy="55543"/>
          </a:xfrm>
          <a:prstGeom prst="rightArrow">
            <a:avLst>
              <a:gd name="adj1" fmla="val 50000"/>
              <a:gd name="adj2" fmla="val 110227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091841" y="2293744"/>
            <a:ext cx="394183" cy="55543"/>
          </a:xfrm>
          <a:prstGeom prst="rightArrow">
            <a:avLst>
              <a:gd name="adj1" fmla="val 50000"/>
              <a:gd name="adj2" fmla="val 110227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091841" y="2488592"/>
            <a:ext cx="394183" cy="55543"/>
          </a:xfrm>
          <a:prstGeom prst="rightArrow">
            <a:avLst>
              <a:gd name="adj1" fmla="val 50000"/>
              <a:gd name="adj2" fmla="val 110227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091841" y="2683440"/>
            <a:ext cx="394183" cy="55543"/>
          </a:xfrm>
          <a:prstGeom prst="rightArrow">
            <a:avLst>
              <a:gd name="adj1" fmla="val 50000"/>
              <a:gd name="adj2" fmla="val 110227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091841" y="2878287"/>
            <a:ext cx="394183" cy="55543"/>
          </a:xfrm>
          <a:prstGeom prst="rightArrow">
            <a:avLst>
              <a:gd name="adj1" fmla="val 50000"/>
              <a:gd name="adj2" fmla="val 110227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091841" y="3102729"/>
            <a:ext cx="394183" cy="55543"/>
          </a:xfrm>
          <a:prstGeom prst="rightArrow">
            <a:avLst>
              <a:gd name="adj1" fmla="val 50000"/>
              <a:gd name="adj2" fmla="val 110227"/>
            </a:avLst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609063" y="1675904"/>
            <a:ext cx="2059449" cy="1791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defTabSz="256032">
              <a:spcAft>
                <a:spcPts val="600"/>
              </a:spcAft>
            </a:pPr>
            <a:r>
              <a:rPr lang="en-US" sz="1008" kern="120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A simple example of encryption is where the 26 alphabets are wired with a different alphabet pair.</a:t>
            </a:r>
          </a:p>
          <a:p>
            <a:pPr defTabSz="256032">
              <a:spcAft>
                <a:spcPts val="600"/>
              </a:spcAft>
            </a:pPr>
            <a:endParaRPr lang="en-US" sz="1008" kern="120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defTabSz="256032">
              <a:spcAft>
                <a:spcPts val="600"/>
              </a:spcAft>
            </a:pPr>
            <a:r>
              <a:rPr lang="en-US" sz="1008" kern="120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Input: “hello”</a:t>
            </a:r>
          </a:p>
          <a:p>
            <a:pPr defTabSz="256032">
              <a:spcAft>
                <a:spcPts val="600"/>
              </a:spcAft>
            </a:pPr>
            <a:endParaRPr lang="en-US" sz="1008" kern="120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defTabSz="256032">
              <a:spcAft>
                <a:spcPts val="600"/>
              </a:spcAft>
            </a:pPr>
            <a:r>
              <a:rPr lang="en-US" sz="1008" kern="120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Encrypted output: “oxneh”</a:t>
            </a:r>
          </a:p>
          <a:p>
            <a:pPr defTabSz="256032">
              <a:spcAft>
                <a:spcPts val="600"/>
              </a:spcAft>
            </a:pPr>
            <a:endParaRPr lang="en-US" sz="1008" kern="120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  <a:p>
            <a:pPr defTabSz="256032">
              <a:spcAft>
                <a:spcPts val="600"/>
              </a:spcAft>
            </a:pPr>
            <a:r>
              <a:rPr lang="en-US" sz="1008" kern="120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The output will make no sense to you unless you have the key to decipher it.</a:t>
            </a:r>
            <a:endParaRPr lang="en-US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/>
          <p:nvPr/>
        </p:nvSpPr>
        <p:spPr>
          <a:xfrm>
            <a:off x="623225" y="2702525"/>
            <a:ext cx="1950900" cy="5880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Keyboard</a:t>
            </a:r>
            <a:endParaRPr sz="1600" b="1"/>
          </a:p>
        </p:txBody>
      </p:sp>
      <p:sp>
        <p:nvSpPr>
          <p:cNvPr id="115" name="Google Shape;115;p16"/>
          <p:cNvSpPr/>
          <p:nvPr/>
        </p:nvSpPr>
        <p:spPr>
          <a:xfrm>
            <a:off x="2695325" y="2702525"/>
            <a:ext cx="1950900" cy="5880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Plugboard</a:t>
            </a:r>
            <a:endParaRPr sz="1600" b="1"/>
          </a:p>
        </p:txBody>
      </p:sp>
      <p:sp>
        <p:nvSpPr>
          <p:cNvPr id="116" name="Google Shape;116;p16"/>
          <p:cNvSpPr/>
          <p:nvPr/>
        </p:nvSpPr>
        <p:spPr>
          <a:xfrm>
            <a:off x="4767425" y="2702525"/>
            <a:ext cx="1950900" cy="5880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Rotors</a:t>
            </a:r>
            <a:endParaRPr sz="1600" b="1"/>
          </a:p>
        </p:txBody>
      </p:sp>
      <p:sp>
        <p:nvSpPr>
          <p:cNvPr id="117" name="Google Shape;117;p16"/>
          <p:cNvSpPr/>
          <p:nvPr/>
        </p:nvSpPr>
        <p:spPr>
          <a:xfrm>
            <a:off x="6839525" y="2702525"/>
            <a:ext cx="1950900" cy="5880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Reflector</a:t>
            </a:r>
            <a:endParaRPr sz="1600" b="1"/>
          </a:p>
        </p:txBody>
      </p:sp>
      <p:sp>
        <p:nvSpPr>
          <p:cNvPr id="118" name="Google Shape;118;p16"/>
          <p:cNvSpPr/>
          <p:nvPr/>
        </p:nvSpPr>
        <p:spPr>
          <a:xfrm>
            <a:off x="211000" y="3881200"/>
            <a:ext cx="1341000" cy="11100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Message</a:t>
            </a:r>
            <a:endParaRPr b="1"/>
          </a:p>
        </p:txBody>
      </p:sp>
      <p:sp>
        <p:nvSpPr>
          <p:cNvPr id="119" name="Google Shape;119;p16"/>
          <p:cNvSpPr/>
          <p:nvPr/>
        </p:nvSpPr>
        <p:spPr>
          <a:xfrm rot="5400000" flipH="1">
            <a:off x="1230550" y="3611975"/>
            <a:ext cx="1250100" cy="6072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2695325" y="4318075"/>
            <a:ext cx="1950900" cy="588000"/>
          </a:xfrm>
          <a:prstGeom prst="rect">
            <a:avLst/>
          </a:prstGeom>
          <a:solidFill>
            <a:srgbClr val="F1C23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Lightboard</a:t>
            </a:r>
            <a:endParaRPr sz="1600" b="1"/>
          </a:p>
        </p:txBody>
      </p:sp>
      <p:sp>
        <p:nvSpPr>
          <p:cNvPr id="121" name="Google Shape;121;p16"/>
          <p:cNvSpPr/>
          <p:nvPr/>
        </p:nvSpPr>
        <p:spPr>
          <a:xfrm>
            <a:off x="2049750" y="1878125"/>
            <a:ext cx="1012200" cy="8244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4200725" y="1878125"/>
            <a:ext cx="1012200" cy="8244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6351700" y="1878125"/>
            <a:ext cx="1012200" cy="8244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6"/>
          <p:cNvSpPr/>
          <p:nvPr/>
        </p:nvSpPr>
        <p:spPr>
          <a:xfrm rot="10800000">
            <a:off x="6276425" y="3290525"/>
            <a:ext cx="1012200" cy="8244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6"/>
          <p:cNvSpPr/>
          <p:nvPr/>
        </p:nvSpPr>
        <p:spPr>
          <a:xfrm rot="10800000">
            <a:off x="4200725" y="3290525"/>
            <a:ext cx="1012200" cy="8244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2826725" y="3312500"/>
            <a:ext cx="310500" cy="100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782650" y="553925"/>
            <a:ext cx="1950900" cy="11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plugboard can have </a:t>
            </a:r>
            <a:r>
              <a:rPr lang="en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up to 13 pairs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of alphabets. If the letter pressed has a pair, it is </a:t>
            </a:r>
            <a:r>
              <a:rPr lang="en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swapped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with it.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4102550" y="872625"/>
            <a:ext cx="24729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There are 3 rotors in the Enigma machine that encrypt the letter passing through them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7145950" y="1158375"/>
            <a:ext cx="2143200" cy="12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reflector acts as </a:t>
            </a:r>
            <a:r>
              <a:rPr lang="en">
                <a:solidFill>
                  <a:srgbClr val="38761D"/>
                </a:solidFill>
                <a:latin typeface="Lato"/>
                <a:ea typeface="Lato"/>
                <a:cs typeface="Lato"/>
                <a:sym typeface="Lato"/>
              </a:rPr>
              <a:t>another plugboard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which sends the message</a:t>
            </a:r>
            <a:r>
              <a:rPr lang="en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b="1">
                <a:solidFill>
                  <a:srgbClr val="3C78D8"/>
                </a:solidFill>
                <a:latin typeface="Lato"/>
                <a:ea typeface="Lato"/>
                <a:cs typeface="Lato"/>
                <a:sym typeface="Lato"/>
              </a:rPr>
              <a:t>back through the rotors and plugboard</a:t>
            </a:r>
            <a:endParaRPr b="1">
              <a:solidFill>
                <a:srgbClr val="3C78D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5189650" y="4169750"/>
            <a:ext cx="18684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encrypted letter lights up on a lightboard which is copied down.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Enigma Machine parts:</a:t>
            </a:r>
            <a:endParaRPr/>
          </a:p>
        </p:txBody>
      </p:sp>
      <p:pic>
        <p:nvPicPr>
          <p:cNvPr id="136" name="Google Shape;13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200" y="1853850"/>
            <a:ext cx="577422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275" y="688875"/>
            <a:ext cx="5181725" cy="37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386850" y="1543050"/>
            <a:ext cx="32862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The first component of the Enigma Machine is the keyboard.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It takes in user input to be ciphered.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4343400" y="3400325"/>
            <a:ext cx="2208900" cy="1033200"/>
          </a:xfrm>
          <a:prstGeom prst="rect">
            <a:avLst/>
          </a:prstGeom>
          <a:noFill/>
          <a:ln w="762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>
            <a:spLocks noGrp="1"/>
          </p:cNvSpPr>
          <p:nvPr>
            <p:ph type="body" idx="1"/>
          </p:nvPr>
        </p:nvSpPr>
        <p:spPr>
          <a:xfrm>
            <a:off x="729450" y="1883750"/>
            <a:ext cx="3842700" cy="24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>
                <a:solidFill>
                  <a:srgbClr val="000000"/>
                </a:solidFill>
              </a:rPr>
              <a:t>The “sanitize” function removes all spaces and capitalizes the entire message</a:t>
            </a:r>
            <a:endParaRPr sz="1500" b="1">
              <a:solidFill>
                <a:srgbClr val="000000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" sz="1500" b="1">
                <a:solidFill>
                  <a:srgbClr val="000000"/>
                </a:solidFill>
              </a:rPr>
              <a:t>No spaces strengthens the ciphered text</a:t>
            </a:r>
            <a:endParaRPr sz="1500" b="1">
              <a:solidFill>
                <a:srgbClr val="000000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" sz="1500" b="1">
                <a:solidFill>
                  <a:srgbClr val="000000"/>
                </a:solidFill>
              </a:rPr>
              <a:t>Capital letters simplify coding the routers with the use of the ASCII chart.</a:t>
            </a:r>
            <a:endParaRPr sz="1500" b="1">
              <a:solidFill>
                <a:srgbClr val="000000"/>
              </a:solidFill>
            </a:endParaRPr>
          </a:p>
        </p:txBody>
      </p:sp>
      <p:pic>
        <p:nvPicPr>
          <p:cNvPr id="149" name="Google Shape;14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1376" y="3455375"/>
            <a:ext cx="3230524" cy="151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5500" y="615463"/>
            <a:ext cx="4196398" cy="2747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275" y="688875"/>
            <a:ext cx="5181725" cy="37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0"/>
          <p:cNvSpPr txBox="1"/>
          <p:nvPr/>
        </p:nvSpPr>
        <p:spPr>
          <a:xfrm>
            <a:off x="287950" y="1158375"/>
            <a:ext cx="32862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The second component of the machine is the plugboard.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The plugboard has to be used manually to swap letters with an inserted plug.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This is where the first cipher happens.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4409325" y="2367150"/>
            <a:ext cx="4099500" cy="1033200"/>
          </a:xfrm>
          <a:prstGeom prst="rect">
            <a:avLst/>
          </a:prstGeom>
          <a:noFill/>
          <a:ln w="762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8" name="Google Shape;15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796" y="3477275"/>
            <a:ext cx="2004325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>
            <a:spLocks noGrp="1"/>
          </p:cNvSpPr>
          <p:nvPr>
            <p:ph type="body" idx="1"/>
          </p:nvPr>
        </p:nvSpPr>
        <p:spPr>
          <a:xfrm>
            <a:off x="299350" y="2354900"/>
            <a:ext cx="1010700" cy="45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My pairs:</a:t>
            </a:r>
            <a:endParaRPr sz="15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</a:rPr>
              <a:t>b &amp; q</a:t>
            </a:r>
            <a:endParaRPr sz="15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</a:rPr>
              <a:t> c &amp; r </a:t>
            </a:r>
            <a:endParaRPr sz="15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</a:rPr>
              <a:t>d &amp; i </a:t>
            </a:r>
            <a:endParaRPr sz="15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</a:rPr>
              <a:t>e &amp; j </a:t>
            </a:r>
            <a:endParaRPr sz="15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</a:rPr>
              <a:t>k &amp; w</a:t>
            </a:r>
            <a:endParaRPr sz="15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b="1">
                <a:solidFill>
                  <a:srgbClr val="000000"/>
                </a:solidFill>
              </a:rPr>
              <a:t> 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163" name="Google Shape;163;p21"/>
          <p:cNvSpPr txBox="1">
            <a:spLocks noGrp="1"/>
          </p:cNvSpPr>
          <p:nvPr>
            <p:ph type="body" idx="4294967295"/>
          </p:nvPr>
        </p:nvSpPr>
        <p:spPr>
          <a:xfrm>
            <a:off x="5302250" y="1257300"/>
            <a:ext cx="3841750" cy="26590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>
                <a:solidFill>
                  <a:srgbClr val="000000"/>
                </a:solidFill>
              </a:rPr>
              <a:t>Creating 10 plugboard pairs was a conventional number when using the enigma machine, although 13 pairs are the maximum possibility.</a:t>
            </a:r>
            <a:endParaRPr sz="15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 b="1">
                <a:solidFill>
                  <a:srgbClr val="000000"/>
                </a:solidFill>
              </a:rPr>
              <a:t>I created a string variable to store all my pairs and used the “.split” method to break them apart in my function.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1244100" y="2773975"/>
            <a:ext cx="824400" cy="21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m &amp; t </a:t>
            </a:r>
            <a:endParaRPr sz="15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o &amp; s </a:t>
            </a:r>
            <a:endParaRPr sz="15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p &amp; x </a:t>
            </a:r>
            <a:endParaRPr sz="15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u &amp; z </a:t>
            </a:r>
            <a:endParaRPr sz="15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g &amp; h</a:t>
            </a:r>
            <a:endParaRPr sz="15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6" name="Google Shape;16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175" y="2354896"/>
            <a:ext cx="2612150" cy="254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275" y="688875"/>
            <a:ext cx="5181725" cy="37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 txBox="1"/>
          <p:nvPr/>
        </p:nvSpPr>
        <p:spPr>
          <a:xfrm>
            <a:off x="386850" y="1543050"/>
            <a:ext cx="32862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If no plugs are inserted is the plugboard, the letters go directly into the rotors.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5761150" y="740650"/>
            <a:ext cx="1670400" cy="1736700"/>
          </a:xfrm>
          <a:prstGeom prst="rect">
            <a:avLst/>
          </a:prstGeom>
          <a:noFill/>
          <a:ln w="762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275" y="688875"/>
            <a:ext cx="5181725" cy="37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3"/>
          <p:cNvSpPr txBox="1"/>
          <p:nvPr/>
        </p:nvSpPr>
        <p:spPr>
          <a:xfrm>
            <a:off x="386850" y="1543050"/>
            <a:ext cx="32862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The static wheel contains all of the alphabet.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It receives the letters from the plugboard to be ciphered and sends them back out of the plugboard once ciphered.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It is the starting wheel.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7442700" y="740650"/>
            <a:ext cx="516300" cy="1692600"/>
          </a:xfrm>
          <a:prstGeom prst="rect">
            <a:avLst/>
          </a:prstGeom>
          <a:noFill/>
          <a:ln w="762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275" y="688875"/>
            <a:ext cx="5181725" cy="37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/>
        </p:nvSpPr>
        <p:spPr>
          <a:xfrm>
            <a:off x="386850" y="1543050"/>
            <a:ext cx="32862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The reflector is where half of the alphabet is wired to the other half allowing for one swap of the letters before they re-enter the rotors.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5156675" y="740650"/>
            <a:ext cx="604500" cy="1736700"/>
          </a:xfrm>
          <a:prstGeom prst="rect">
            <a:avLst/>
          </a:prstGeom>
          <a:noFill/>
          <a:ln w="762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8" name="Google Shape;18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475" y="2650875"/>
            <a:ext cx="2042025" cy="204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275" y="688875"/>
            <a:ext cx="5181725" cy="37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/>
          <p:nvPr/>
        </p:nvSpPr>
        <p:spPr>
          <a:xfrm>
            <a:off x="386850" y="1543050"/>
            <a:ext cx="3286200" cy="18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The light board lights up the resulting letter after the cipher is completed.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This letter is the output of the cipher.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25"/>
          <p:cNvSpPr/>
          <p:nvPr/>
        </p:nvSpPr>
        <p:spPr>
          <a:xfrm>
            <a:off x="6442550" y="3400350"/>
            <a:ext cx="2143200" cy="1033200"/>
          </a:xfrm>
          <a:prstGeom prst="rect">
            <a:avLst/>
          </a:prstGeom>
          <a:noFill/>
          <a:ln w="76200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>
            <a:spLocks noGrp="1"/>
          </p:cNvSpPr>
          <p:nvPr>
            <p:ph type="title"/>
          </p:nvPr>
        </p:nvSpPr>
        <p:spPr>
          <a:xfrm>
            <a:off x="727650" y="20365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the Enigma Cipher so unique?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/>
        </p:nvSpPr>
        <p:spPr>
          <a:xfrm>
            <a:off x="2606925" y="1373725"/>
            <a:ext cx="3352200" cy="16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The rotors are labeled 1-26: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1 corresponds to A </a:t>
            </a:r>
            <a:endParaRPr sz="16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2 corresponds to B</a:t>
            </a:r>
            <a:endParaRPr sz="16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…</a:t>
            </a:r>
            <a:endParaRPr sz="1600"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26 corresponds to Z</a:t>
            </a:r>
            <a:endParaRPr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6" name="Google Shape;20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50" y="1853850"/>
            <a:ext cx="1940582" cy="18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Rotors</a:t>
            </a:r>
            <a:endParaRPr/>
          </a:p>
        </p:txBody>
      </p:sp>
      <p:sp>
        <p:nvSpPr>
          <p:cNvPr id="208" name="Google Shape;208;p27"/>
          <p:cNvSpPr txBox="1"/>
          <p:nvPr/>
        </p:nvSpPr>
        <p:spPr>
          <a:xfrm>
            <a:off x="3552100" y="3125675"/>
            <a:ext cx="1714500" cy="18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Lato"/>
                <a:ea typeface="Lato"/>
                <a:cs typeface="Lato"/>
                <a:sym typeface="Lato"/>
              </a:rPr>
              <a:t>Rotor 3:</a:t>
            </a:r>
            <a:endParaRPr sz="1600"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Rotates every time a key is pressed on the keyboard.</a:t>
            </a:r>
            <a:endParaRPr b="1">
              <a:solidFill>
                <a:srgbClr val="4A86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" name="Google Shape;209;p27"/>
          <p:cNvSpPr txBox="1"/>
          <p:nvPr/>
        </p:nvSpPr>
        <p:spPr>
          <a:xfrm>
            <a:off x="5266600" y="3125675"/>
            <a:ext cx="1714500" cy="18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Lato"/>
                <a:ea typeface="Lato"/>
                <a:cs typeface="Lato"/>
                <a:sym typeface="Lato"/>
              </a:rPr>
              <a:t>Rotor 2:</a:t>
            </a:r>
            <a:endParaRPr sz="1600"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Rotates after ~26 turns of </a:t>
            </a:r>
            <a:r>
              <a:rPr lang="en" sz="1500" b="1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Rotor 3.</a:t>
            </a:r>
            <a:endParaRPr b="1">
              <a:solidFill>
                <a:srgbClr val="4A86E8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7014175" y="3125675"/>
            <a:ext cx="1714500" cy="18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Lato"/>
                <a:ea typeface="Lato"/>
                <a:cs typeface="Lato"/>
                <a:sym typeface="Lato"/>
              </a:rPr>
              <a:t>Rotor 1:</a:t>
            </a:r>
            <a:endParaRPr sz="1600"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Rotates after ~26 turns of </a:t>
            </a:r>
            <a:r>
              <a:rPr lang="en" sz="1500" b="1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Rotor 2.</a:t>
            </a:r>
            <a:endParaRPr sz="1500" b="1">
              <a:solidFill>
                <a:srgbClr val="4A86E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1" name="Google Shape;211;p27"/>
          <p:cNvPicPr preferRelativeResize="0"/>
          <p:nvPr/>
        </p:nvPicPr>
        <p:blipFill rotWithShape="1">
          <a:blip r:embed="rId4">
            <a:alphaModFix/>
          </a:blip>
          <a:srcRect l="28232" t="2108" r="17713" b="55548"/>
          <a:stretch/>
        </p:blipFill>
        <p:spPr>
          <a:xfrm>
            <a:off x="320900" y="3791750"/>
            <a:ext cx="3121275" cy="12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7"/>
          <p:cNvPicPr preferRelativeResize="0"/>
          <p:nvPr/>
        </p:nvPicPr>
        <p:blipFill rotWithShape="1">
          <a:blip r:embed="rId5">
            <a:alphaModFix/>
          </a:blip>
          <a:srcRect l="1370"/>
          <a:stretch/>
        </p:blipFill>
        <p:spPr>
          <a:xfrm>
            <a:off x="5376475" y="1208943"/>
            <a:ext cx="3352200" cy="176948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/>
        </p:nvSpPr>
        <p:spPr>
          <a:xfrm>
            <a:off x="6233850" y="4279525"/>
            <a:ext cx="19323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* The two notches on rotor 1 &amp; 2 are on letters “W” and “F”</a:t>
            </a:r>
            <a:endParaRPr b="1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>
            <a:spLocks noGrp="1"/>
          </p:cNvSpPr>
          <p:nvPr>
            <p:ph type="title"/>
          </p:nvPr>
        </p:nvSpPr>
        <p:spPr>
          <a:xfrm>
            <a:off x="562775" y="12562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the Enigma Cipher so unique?</a:t>
            </a:r>
            <a:endParaRPr/>
          </a:p>
        </p:txBody>
      </p:sp>
      <p:sp>
        <p:nvSpPr>
          <p:cNvPr id="219" name="Google Shape;219;p28"/>
          <p:cNvSpPr txBox="1"/>
          <p:nvPr/>
        </p:nvSpPr>
        <p:spPr>
          <a:xfrm>
            <a:off x="562775" y="1707900"/>
            <a:ext cx="6099600" cy="16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Each letter is always paired up with a different corresponding letter.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spinning rotors make it to that the letters are swapped randomly every time so there are no weaknesses in the cipher.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Lato"/>
              <a:buChar char="○"/>
            </a:pPr>
            <a:r>
              <a:rPr lang="en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For example: there is never a most repeated letter to try and decipher the code with.</a:t>
            </a:r>
            <a:endParaRPr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0" name="Google Shape;22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0025" y="2819425"/>
            <a:ext cx="398145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/>
          <p:nvPr/>
        </p:nvSpPr>
        <p:spPr>
          <a:xfrm rot="-1400272">
            <a:off x="4131574" y="3790184"/>
            <a:ext cx="4132501" cy="153984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8"/>
          <p:cNvSpPr/>
          <p:nvPr/>
        </p:nvSpPr>
        <p:spPr>
          <a:xfrm rot="1384510">
            <a:off x="4254107" y="3790210"/>
            <a:ext cx="4132538" cy="153905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>
            <a:spLocks noGrp="1"/>
          </p:cNvSpPr>
          <p:nvPr>
            <p:ph type="body" idx="1"/>
          </p:nvPr>
        </p:nvSpPr>
        <p:spPr>
          <a:xfrm>
            <a:off x="432700" y="1441200"/>
            <a:ext cx="2053200" cy="10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000000"/>
                </a:solidFill>
              </a:rPr>
              <a:t>Model: Enigma I</a:t>
            </a:r>
            <a:endParaRPr sz="17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 b="1">
                <a:solidFill>
                  <a:srgbClr val="000000"/>
                </a:solidFill>
              </a:rPr>
              <a:t>Reflector: UKW B</a:t>
            </a:r>
            <a:endParaRPr sz="1700" b="1">
              <a:solidFill>
                <a:srgbClr val="000000"/>
              </a:solidFill>
            </a:endParaRPr>
          </a:p>
        </p:txBody>
      </p:sp>
      <p:pic>
        <p:nvPicPr>
          <p:cNvPr id="228" name="Google Shape;22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625" y="3187350"/>
            <a:ext cx="5202125" cy="16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9"/>
          <p:cNvSpPr txBox="1"/>
          <p:nvPr/>
        </p:nvSpPr>
        <p:spPr>
          <a:xfrm>
            <a:off x="432700" y="2571750"/>
            <a:ext cx="633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settings used for this model and reflector were assigned to the following variables in the code: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675" y="2466250"/>
            <a:ext cx="2157475" cy="239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9575" y="949450"/>
            <a:ext cx="3917000" cy="344827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0"/>
          <p:cNvSpPr txBox="1"/>
          <p:nvPr/>
        </p:nvSpPr>
        <p:spPr>
          <a:xfrm>
            <a:off x="386875" y="1587025"/>
            <a:ext cx="36819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ASCII values for the capitalized alphabet allowed me to use Python’s </a:t>
            </a:r>
            <a:r>
              <a:rPr lang="en" b="1">
                <a:latin typeface="Lato"/>
                <a:ea typeface="Lato"/>
                <a:cs typeface="Lato"/>
                <a:sym typeface="Lato"/>
              </a:rPr>
              <a:t>“ord()”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" b="1">
                <a:latin typeface="Lato"/>
                <a:ea typeface="Lato"/>
                <a:cs typeface="Lato"/>
                <a:sym typeface="Lato"/>
              </a:rPr>
              <a:t>“chr()”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built in functions for conversions and shifts.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6860200" y="1264075"/>
            <a:ext cx="846000" cy="2565000"/>
          </a:xfrm>
          <a:prstGeom prst="rect">
            <a:avLst/>
          </a:prstGeom>
          <a:noFill/>
          <a:ln w="762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41526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last step in the code was to put the functions into action.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user input goes through the rotors from </a:t>
            </a:r>
            <a:r>
              <a:rPr lang="en" b="1">
                <a:solidFill>
                  <a:srgbClr val="38761D"/>
                </a:solidFill>
              </a:rPr>
              <a:t>rotor 3 → rotor 1</a:t>
            </a:r>
            <a:r>
              <a:rPr lang="en">
                <a:solidFill>
                  <a:srgbClr val="000000"/>
                </a:solidFill>
              </a:rPr>
              <a:t>, followed by an encryption by the </a:t>
            </a:r>
            <a:r>
              <a:rPr lang="en" b="1">
                <a:solidFill>
                  <a:srgbClr val="A64D79"/>
                </a:solidFill>
              </a:rPr>
              <a:t>reflector </a:t>
            </a:r>
            <a:r>
              <a:rPr lang="en">
                <a:solidFill>
                  <a:srgbClr val="000000"/>
                </a:solidFill>
              </a:rPr>
              <a:t>and then back from </a:t>
            </a:r>
            <a:r>
              <a:rPr lang="en" b="1">
                <a:solidFill>
                  <a:srgbClr val="E69138"/>
                </a:solidFill>
              </a:rPr>
              <a:t>rotor 1 → rotor 3</a:t>
            </a:r>
            <a:r>
              <a:rPr lang="en">
                <a:solidFill>
                  <a:srgbClr val="000000"/>
                </a:solidFill>
              </a:rPr>
              <a:t>.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result goes through the </a:t>
            </a:r>
            <a:r>
              <a:rPr lang="en">
                <a:solidFill>
                  <a:srgbClr val="0000FF"/>
                </a:solidFill>
              </a:rPr>
              <a:t>plugboard</a:t>
            </a:r>
            <a:r>
              <a:rPr lang="en">
                <a:solidFill>
                  <a:srgbClr val="000000"/>
                </a:solidFill>
              </a:rPr>
              <a:t> once again.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Finally the </a:t>
            </a:r>
            <a:r>
              <a:rPr lang="en" b="1">
                <a:solidFill>
                  <a:srgbClr val="FF0000"/>
                </a:solidFill>
              </a:rPr>
              <a:t>output</a:t>
            </a:r>
            <a:r>
              <a:rPr lang="en">
                <a:solidFill>
                  <a:srgbClr val="000000"/>
                </a:solidFill>
              </a:rPr>
              <a:t> is printed.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43" name="Google Shape;24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6075" y="1314525"/>
            <a:ext cx="3562351" cy="302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1"/>
          <p:cNvSpPr/>
          <p:nvPr/>
        </p:nvSpPr>
        <p:spPr>
          <a:xfrm>
            <a:off x="5076075" y="3747925"/>
            <a:ext cx="2663400" cy="2898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31"/>
          <p:cNvSpPr/>
          <p:nvPr/>
        </p:nvSpPr>
        <p:spPr>
          <a:xfrm>
            <a:off x="5076075" y="4050175"/>
            <a:ext cx="2663400" cy="289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31"/>
          <p:cNvSpPr/>
          <p:nvPr/>
        </p:nvSpPr>
        <p:spPr>
          <a:xfrm>
            <a:off x="5227000" y="1314525"/>
            <a:ext cx="3150000" cy="921000"/>
          </a:xfrm>
          <a:prstGeom prst="rect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5227000" y="2281950"/>
            <a:ext cx="2663400" cy="289800"/>
          </a:xfrm>
          <a:prstGeom prst="rect">
            <a:avLst/>
          </a:prstGeom>
          <a:noFill/>
          <a:ln w="2857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1"/>
          <p:cNvSpPr/>
          <p:nvPr/>
        </p:nvSpPr>
        <p:spPr>
          <a:xfrm>
            <a:off x="5323000" y="2618175"/>
            <a:ext cx="3054000" cy="1020300"/>
          </a:xfrm>
          <a:prstGeom prst="rect">
            <a:avLst/>
          </a:prstGeom>
          <a:noFill/>
          <a:ln w="2857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2"/>
          <p:cNvPicPr preferRelativeResize="0"/>
          <p:nvPr/>
        </p:nvPicPr>
        <p:blipFill rotWithShape="1">
          <a:blip r:embed="rId3">
            <a:alphaModFix/>
          </a:blip>
          <a:srcRect r="15959"/>
          <a:stretch/>
        </p:blipFill>
        <p:spPr>
          <a:xfrm>
            <a:off x="0" y="0"/>
            <a:ext cx="76844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/>
          <p:nvPr/>
        </p:nvSpPr>
        <p:spPr>
          <a:xfrm>
            <a:off x="7475650" y="0"/>
            <a:ext cx="1668300" cy="58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751</Words>
  <Application>Microsoft Office PowerPoint</Application>
  <PresentationFormat>On-screen Show (16:9)</PresentationFormat>
  <Paragraphs>110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 Light</vt:lpstr>
      <vt:lpstr>Arial</vt:lpstr>
      <vt:lpstr>Lato</vt:lpstr>
      <vt:lpstr>Calibri</vt:lpstr>
      <vt:lpstr>Office Theme</vt:lpstr>
      <vt:lpstr>Enigma Cipher</vt:lpstr>
      <vt:lpstr>Enigma Cipher</vt:lpstr>
      <vt:lpstr>How Does Encryption Work?</vt:lpstr>
      <vt:lpstr>PowerPoint Presentation</vt:lpstr>
      <vt:lpstr>PowerPoint Presentation</vt:lpstr>
      <vt:lpstr>Overview of Enigma Machine parts: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is the Enigma Cipher so unique?</vt:lpstr>
      <vt:lpstr>Rotors</vt:lpstr>
      <vt:lpstr>Why is the Enigma Cipher so unique?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Enigma Cipher</dc:title>
  <cp:lastModifiedBy>Prashaant</cp:lastModifiedBy>
  <cp:revision>1</cp:revision>
  <dcterms:modified xsi:type="dcterms:W3CDTF">2023-08-22T19:46:02Z</dcterms:modified>
</cp:coreProperties>
</file>