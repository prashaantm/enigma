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2" r:id="rId1"/>
  </p:sldMasterIdLst>
  <p:notesMasterIdLst>
    <p:notesMasterId r:id="rId23"/>
  </p:notesMasterIdLst>
  <p:sldIdLst>
    <p:sldId id="288" r:id="rId2"/>
    <p:sldId id="278" r:id="rId3"/>
    <p:sldId id="300" r:id="rId4"/>
    <p:sldId id="276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90" r:id="rId13"/>
    <p:sldId id="286" r:id="rId14"/>
    <p:sldId id="287" r:id="rId15"/>
    <p:sldId id="292" r:id="rId16"/>
    <p:sldId id="296" r:id="rId17"/>
    <p:sldId id="295" r:id="rId18"/>
    <p:sldId id="294" r:id="rId19"/>
    <p:sldId id="297" r:id="rId20"/>
    <p:sldId id="299" r:id="rId21"/>
    <p:sldId id="298" r:id="rId2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66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028" y="1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524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639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75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363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782553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198239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49742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695488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334429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54738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23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433703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69925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01361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111863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8680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6A39-5F43-13D9-F736-85F53902A3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sz="8800" dirty="0"/>
              <a:t>Enigma Cipher</a:t>
            </a:r>
            <a:endParaRPr lang="en-US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892EC-25A2-644D-C26E-1ED1F71258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3200" dirty="0"/>
              <a:t>By: Prashaant Mudgala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3200" dirty="0"/>
              <a:t>Mentor: Nolan Ashvin Miranda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88535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BCF3B-6140-0C02-C88E-82CDF578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3938487" cy="13554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400" dirty="0"/>
              <a:t>The History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38ED-3909-4B18-6E37-E54CA4721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650" y="1749972"/>
            <a:ext cx="3464715" cy="2882750"/>
          </a:xfrm>
        </p:spPr>
        <p:txBody>
          <a:bodyPr vert="horz" lIns="91440" tIns="45720" rIns="91440" bIns="45720" rtlCol="0">
            <a:normAutofit/>
          </a:bodyPr>
          <a:lstStyle/>
          <a:p>
            <a:pPr marL="514350" lvl="0" indent="-285750" algn="just" defTabSz="91440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500" dirty="0"/>
              <a:t>The Enigma cipher was developed in the 20th century and highly used during WWII.</a:t>
            </a:r>
          </a:p>
          <a:p>
            <a:pPr marL="514350" lvl="0" indent="-285750" algn="just" defTabSz="914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500" dirty="0"/>
              <a:t>The Cipher was one of the most powerful at the time and the only way to decipher a text encrypted by the cipher was to obtain the key. </a:t>
            </a:r>
          </a:p>
          <a:p>
            <a:pPr marL="514350" lvl="0" indent="-285750" algn="just" defTabSz="914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500" dirty="0"/>
              <a:t>The machine was put into use by various militaries such as Nazi Germany because none of the other countries could break the code.</a:t>
            </a:r>
          </a:p>
          <a:p>
            <a:pPr indent="-228600" algn="just" defTabSz="91440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5" name="Google Shape;94;p14" descr="A machine with many buttons&#10;&#10;Description automatically generated">
            <a:extLst>
              <a:ext uri="{FF2B5EF4-FFF2-40B4-BE49-F238E27FC236}">
                <a16:creationId xmlns:a16="http://schemas.microsoft.com/office/drawing/2014/main" id="{DA122E0A-BCEF-546D-03B0-12923EECDE30}"/>
              </a:ext>
            </a:extLst>
          </p:cNvPr>
          <p:cNvPicPr preferRelativeResize="0"/>
          <p:nvPr/>
        </p:nvPicPr>
        <p:blipFill rotWithShape="1">
          <a:blip r:embed="rId2"/>
          <a:srcRect b="147"/>
          <a:stretch/>
        </p:blipFill>
        <p:spPr>
          <a:xfrm>
            <a:off x="4671911" y="10"/>
            <a:ext cx="4472089" cy="51434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0811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1" name="Rectangle 105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5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BCF3B-6140-0C02-C88E-82CDF578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02216"/>
            <a:ext cx="3574747" cy="10905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7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Cryptography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38ED-3909-4B18-6E37-E54CA4721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3504" y="1816262"/>
            <a:ext cx="3574461" cy="25151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lvl="0" indent="-228600" defTabSz="91440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Cryptography is the art of hiding information.</a:t>
            </a:r>
          </a:p>
          <a:p>
            <a:pPr marL="514350" lvl="0" indent="-228600" defTabSz="91440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Encryption is the processes of converting plain text into unintelligible text.</a:t>
            </a:r>
          </a:p>
          <a:p>
            <a:pPr marL="514350" lvl="0" indent="-228600" defTabSz="91440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Decryption is using a key to convert ciphertext back to plain text.</a:t>
            </a:r>
          </a:p>
          <a:p>
            <a:pPr marL="857250" lvl="1" indent="-228600" defTabSz="914400"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The Key used can be symmetric or asymmetric.</a:t>
            </a:r>
          </a:p>
          <a:p>
            <a:pPr marL="514350" lvl="0" indent="-228600" defTabSz="91440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1400">
              <a:solidFill>
                <a:schemeClr val="tx2"/>
              </a:solidFill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400">
              <a:solidFill>
                <a:schemeClr val="tx2"/>
              </a:solidFill>
            </a:endParaRPr>
          </a:p>
        </p:txBody>
      </p:sp>
      <p:grpSp>
        <p:nvGrpSpPr>
          <p:cNvPr id="1073" name="Group 105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2535"/>
            <a:ext cx="4780320" cy="5156035"/>
            <a:chOff x="5818240" y="-1"/>
            <a:chExt cx="6373761" cy="6874714"/>
          </a:xfrm>
        </p:grpSpPr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Freeform: Shape 106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A diagram of a computer algorithm&#10;&#10;Description automatically generated">
            <a:extLst>
              <a:ext uri="{FF2B5EF4-FFF2-40B4-BE49-F238E27FC236}">
                <a16:creationId xmlns:a16="http://schemas.microsoft.com/office/drawing/2014/main" id="{5EEF6F01-B301-9C57-771B-C1AAC1ED9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8780" y="1887051"/>
            <a:ext cx="3409188" cy="189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607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F4AC-DDA8-7B39-BC08-569145B6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How Does Encryption Work?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73DD-2926-82B7-2201-ECC3B3DF0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369219"/>
            <a:ext cx="3943350" cy="3263504"/>
          </a:xfrm>
        </p:spPr>
        <p:txBody>
          <a:bodyPr>
            <a:normAutofit fontScale="92500" lnSpcReduction="10000"/>
          </a:bodyPr>
          <a:lstStyle/>
          <a:p>
            <a:pPr defTabSz="256032"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ea typeface="Lato"/>
                <a:cs typeface="Lato"/>
                <a:sym typeface="Lato"/>
              </a:rPr>
              <a:t>A simple example of encryption is where the 26 alphabets are wired with a different alphabet pair.</a:t>
            </a:r>
          </a:p>
          <a:p>
            <a:pPr defTabSz="256032"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ea typeface="Lato"/>
                <a:cs typeface="Lato"/>
                <a:sym typeface="Lato"/>
              </a:rPr>
              <a:t>Input: “hello”</a:t>
            </a:r>
          </a:p>
          <a:p>
            <a:pPr defTabSz="256032"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ea typeface="Lato"/>
                <a:cs typeface="Lato"/>
                <a:sym typeface="Lato"/>
              </a:rPr>
              <a:t>Encrypted output: “</a:t>
            </a:r>
            <a:r>
              <a:rPr lang="en-US" sz="2400" kern="1200" dirty="0" err="1">
                <a:solidFill>
                  <a:schemeClr val="tx1"/>
                </a:solidFill>
                <a:ea typeface="Lato"/>
                <a:cs typeface="Lato"/>
                <a:sym typeface="Lato"/>
              </a:rPr>
              <a:t>oxneh</a:t>
            </a:r>
            <a:r>
              <a:rPr lang="en-US" sz="2400" kern="1200" dirty="0">
                <a:solidFill>
                  <a:schemeClr val="tx1"/>
                </a:solidFill>
                <a:ea typeface="Lato"/>
                <a:cs typeface="Lato"/>
                <a:sym typeface="Lato"/>
              </a:rPr>
              <a:t>”</a:t>
            </a:r>
          </a:p>
          <a:p>
            <a:pPr defTabSz="256032"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ea typeface="Lato"/>
                <a:cs typeface="Lato"/>
                <a:sym typeface="Lato"/>
              </a:rPr>
              <a:t>The output will make no sense to you unless you have the key to decipher it.</a:t>
            </a:r>
            <a:endParaRPr lang="en-US" dirty="0">
              <a:ea typeface="Lato"/>
              <a:cs typeface="Lato"/>
              <a:sym typeface="Lato"/>
            </a:endParaRPr>
          </a:p>
          <a:p>
            <a:endParaRPr lang="en-US" dirty="0"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727DD372-EEFB-B7FB-9599-C07C0B17E80C}"/>
              </a:ext>
            </a:extLst>
          </p:cNvPr>
          <p:cNvSpPr/>
          <p:nvPr/>
        </p:nvSpPr>
        <p:spPr>
          <a:xfrm>
            <a:off x="1535251" y="1783535"/>
            <a:ext cx="787028" cy="2203518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 dirty="0">
                <a:solidFill>
                  <a:schemeClr val="bg1"/>
                </a:solidFill>
                <a:ea typeface="+mn-ea"/>
                <a:cs typeface="+mn-cs"/>
              </a:rPr>
              <a:t>A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 dirty="0">
                <a:solidFill>
                  <a:schemeClr val="bg1"/>
                </a:solidFill>
                <a:ea typeface="+mn-ea"/>
                <a:cs typeface="+mn-cs"/>
              </a:rPr>
              <a:t>B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 dirty="0">
                <a:solidFill>
                  <a:schemeClr val="bg1"/>
                </a:solidFill>
                <a:ea typeface="+mn-ea"/>
                <a:cs typeface="+mn-cs"/>
              </a:rPr>
              <a:t>C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 dirty="0">
                <a:solidFill>
                  <a:schemeClr val="bg1"/>
                </a:solidFill>
                <a:ea typeface="+mn-ea"/>
                <a:cs typeface="+mn-cs"/>
              </a:rPr>
              <a:t>D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 dirty="0">
                <a:solidFill>
                  <a:schemeClr val="bg1"/>
                </a:solidFill>
                <a:ea typeface="+mn-ea"/>
                <a:cs typeface="+mn-cs"/>
              </a:rPr>
              <a:t>E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 dirty="0">
                <a:solidFill>
                  <a:schemeClr val="bg1"/>
                </a:solidFill>
                <a:ea typeface="+mn-ea"/>
                <a:cs typeface="+mn-cs"/>
              </a:rPr>
              <a:t>F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 dirty="0">
                <a:solidFill>
                  <a:schemeClr val="bg1"/>
                </a:solidFill>
                <a:ea typeface="+mn-ea"/>
                <a:cs typeface="+mn-cs"/>
              </a:rPr>
              <a:t>G</a:t>
            </a:r>
            <a:endParaRPr lang="pt-BR" sz="1600" b="1" u="sng" dirty="0">
              <a:solidFill>
                <a:schemeClr val="bg1"/>
              </a:solidFill>
            </a:endParaRPr>
          </a:p>
        </p:txBody>
      </p:sp>
      <p:sp>
        <p:nvSpPr>
          <p:cNvPr id="5" name="Google Shape;101;p15">
            <a:extLst>
              <a:ext uri="{FF2B5EF4-FFF2-40B4-BE49-F238E27FC236}">
                <a16:creationId xmlns:a16="http://schemas.microsoft.com/office/drawing/2014/main" id="{CABF63BA-1EA1-FBA5-57F4-1B61585182FF}"/>
              </a:ext>
            </a:extLst>
          </p:cNvPr>
          <p:cNvSpPr/>
          <p:nvPr/>
        </p:nvSpPr>
        <p:spPr>
          <a:xfrm>
            <a:off x="2446990" y="1783535"/>
            <a:ext cx="787028" cy="2203518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 dirty="0">
                <a:solidFill>
                  <a:schemeClr val="bg1"/>
                </a:solidFill>
                <a:ea typeface="+mn-ea"/>
                <a:cs typeface="+mn-cs"/>
              </a:rPr>
              <a:t>Y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 dirty="0">
                <a:solidFill>
                  <a:schemeClr val="bg1"/>
                </a:solidFill>
                <a:ea typeface="+mn-ea"/>
                <a:cs typeface="+mn-cs"/>
              </a:rPr>
              <a:t>G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 dirty="0">
                <a:solidFill>
                  <a:schemeClr val="bg1"/>
                </a:solidFill>
                <a:ea typeface="+mn-ea"/>
                <a:cs typeface="+mn-cs"/>
              </a:rPr>
              <a:t>A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 dirty="0">
                <a:solidFill>
                  <a:schemeClr val="bg1"/>
                </a:solidFill>
                <a:ea typeface="+mn-ea"/>
                <a:cs typeface="+mn-cs"/>
              </a:rPr>
              <a:t>Q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 dirty="0">
                <a:solidFill>
                  <a:schemeClr val="bg1"/>
                </a:solidFill>
                <a:ea typeface="+mn-ea"/>
                <a:cs typeface="+mn-cs"/>
              </a:rPr>
              <a:t>X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 dirty="0">
                <a:solidFill>
                  <a:schemeClr val="bg1"/>
                </a:solidFill>
                <a:ea typeface="+mn-ea"/>
                <a:cs typeface="+mn-cs"/>
              </a:rPr>
              <a:t>P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 dirty="0">
                <a:solidFill>
                  <a:schemeClr val="bg1"/>
                </a:solidFill>
                <a:ea typeface="+mn-ea"/>
                <a:cs typeface="+mn-cs"/>
              </a:rPr>
              <a:t>L</a:t>
            </a:r>
            <a:endParaRPr lang="es-ES" sz="1600" b="1" u="sng" dirty="0">
              <a:solidFill>
                <a:schemeClr val="bg1"/>
              </a:solidFill>
            </a:endParaRPr>
          </a:p>
        </p:txBody>
      </p:sp>
      <p:sp>
        <p:nvSpPr>
          <p:cNvPr id="6" name="Google Shape;102;p15">
            <a:extLst>
              <a:ext uri="{FF2B5EF4-FFF2-40B4-BE49-F238E27FC236}">
                <a16:creationId xmlns:a16="http://schemas.microsoft.com/office/drawing/2014/main" id="{4C728425-9E95-2537-EBBE-0621EFAAACC6}"/>
              </a:ext>
            </a:extLst>
          </p:cNvPr>
          <p:cNvSpPr/>
          <p:nvPr/>
        </p:nvSpPr>
        <p:spPr>
          <a:xfrm>
            <a:off x="2052806" y="1998173"/>
            <a:ext cx="621239" cy="70640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FE273C85-5133-E094-7D71-8EEEBDA22C44}"/>
              </a:ext>
            </a:extLst>
          </p:cNvPr>
          <p:cNvSpPr/>
          <p:nvPr/>
        </p:nvSpPr>
        <p:spPr>
          <a:xfrm>
            <a:off x="2052803" y="2277268"/>
            <a:ext cx="621239" cy="70640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4;p15">
            <a:extLst>
              <a:ext uri="{FF2B5EF4-FFF2-40B4-BE49-F238E27FC236}">
                <a16:creationId xmlns:a16="http://schemas.microsoft.com/office/drawing/2014/main" id="{1EF70FB0-4FA4-BCAA-19A9-84A2C23D6699}"/>
              </a:ext>
            </a:extLst>
          </p:cNvPr>
          <p:cNvSpPr/>
          <p:nvPr/>
        </p:nvSpPr>
        <p:spPr>
          <a:xfrm>
            <a:off x="2052800" y="3654857"/>
            <a:ext cx="621239" cy="70640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5;p15">
            <a:extLst>
              <a:ext uri="{FF2B5EF4-FFF2-40B4-BE49-F238E27FC236}">
                <a16:creationId xmlns:a16="http://schemas.microsoft.com/office/drawing/2014/main" id="{7486FA17-7DBA-105D-CF95-2449926AF6B9}"/>
              </a:ext>
            </a:extLst>
          </p:cNvPr>
          <p:cNvSpPr/>
          <p:nvPr/>
        </p:nvSpPr>
        <p:spPr>
          <a:xfrm>
            <a:off x="2052800" y="2546263"/>
            <a:ext cx="621239" cy="70640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6;p15">
            <a:extLst>
              <a:ext uri="{FF2B5EF4-FFF2-40B4-BE49-F238E27FC236}">
                <a16:creationId xmlns:a16="http://schemas.microsoft.com/office/drawing/2014/main" id="{477D5ED4-E5CD-CCDC-88AA-F795F7F16F25}"/>
              </a:ext>
            </a:extLst>
          </p:cNvPr>
          <p:cNvSpPr/>
          <p:nvPr/>
        </p:nvSpPr>
        <p:spPr>
          <a:xfrm>
            <a:off x="2052800" y="3393301"/>
            <a:ext cx="621239" cy="70640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DFFA4529-8F91-88E9-A252-9EC39B4D31ED}"/>
              </a:ext>
            </a:extLst>
          </p:cNvPr>
          <p:cNvSpPr/>
          <p:nvPr/>
        </p:nvSpPr>
        <p:spPr>
          <a:xfrm>
            <a:off x="2059411" y="2831541"/>
            <a:ext cx="621239" cy="70640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08;p15">
            <a:extLst>
              <a:ext uri="{FF2B5EF4-FFF2-40B4-BE49-F238E27FC236}">
                <a16:creationId xmlns:a16="http://schemas.microsoft.com/office/drawing/2014/main" id="{E2C8ED20-499B-D8E7-471B-1E3AE3903FD1}"/>
              </a:ext>
            </a:extLst>
          </p:cNvPr>
          <p:cNvSpPr/>
          <p:nvPr/>
        </p:nvSpPr>
        <p:spPr>
          <a:xfrm>
            <a:off x="2052800" y="3109062"/>
            <a:ext cx="621239" cy="70640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054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2567-9DB6-084B-5C61-837E2DD7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Enigma Cipher Stages</a:t>
            </a:r>
          </a:p>
        </p:txBody>
      </p:sp>
      <p:sp>
        <p:nvSpPr>
          <p:cNvPr id="3" name="Google Shape;114;p16">
            <a:extLst>
              <a:ext uri="{FF2B5EF4-FFF2-40B4-BE49-F238E27FC236}">
                <a16:creationId xmlns:a16="http://schemas.microsoft.com/office/drawing/2014/main" id="{4892A574-DDEC-120C-E1C4-A2C108476F3F}"/>
              </a:ext>
            </a:extLst>
          </p:cNvPr>
          <p:cNvSpPr/>
          <p:nvPr/>
        </p:nvSpPr>
        <p:spPr>
          <a:xfrm>
            <a:off x="623225" y="2984933"/>
            <a:ext cx="1535975" cy="444087"/>
          </a:xfrm>
          <a:prstGeom prst="rect">
            <a:avLst/>
          </a:prstGeom>
          <a:solidFill>
            <a:schemeClr val="tx1">
              <a:lumMod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</a:rPr>
              <a:t>Keyboard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4" name="Google Shape;115;p16">
            <a:extLst>
              <a:ext uri="{FF2B5EF4-FFF2-40B4-BE49-F238E27FC236}">
                <a16:creationId xmlns:a16="http://schemas.microsoft.com/office/drawing/2014/main" id="{0D0F9F7E-2FA0-A713-84BD-34CF56235F28}"/>
              </a:ext>
            </a:extLst>
          </p:cNvPr>
          <p:cNvSpPr/>
          <p:nvPr/>
        </p:nvSpPr>
        <p:spPr>
          <a:xfrm>
            <a:off x="2695325" y="2984933"/>
            <a:ext cx="1681251" cy="444087"/>
          </a:xfrm>
          <a:prstGeom prst="rect">
            <a:avLst/>
          </a:prstGeom>
          <a:solidFill>
            <a:schemeClr val="tx1">
              <a:lumMod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</a:rPr>
              <a:t>Plugboard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5" name="Google Shape;116;p16">
            <a:extLst>
              <a:ext uri="{FF2B5EF4-FFF2-40B4-BE49-F238E27FC236}">
                <a16:creationId xmlns:a16="http://schemas.microsoft.com/office/drawing/2014/main" id="{10BCC92A-7E31-3D2C-337F-A76F6B0C8ACF}"/>
              </a:ext>
            </a:extLst>
          </p:cNvPr>
          <p:cNvSpPr/>
          <p:nvPr/>
        </p:nvSpPr>
        <p:spPr>
          <a:xfrm>
            <a:off x="4767425" y="2984933"/>
            <a:ext cx="1584275" cy="444087"/>
          </a:xfrm>
          <a:prstGeom prst="rect">
            <a:avLst/>
          </a:prstGeom>
          <a:solidFill>
            <a:schemeClr val="tx1">
              <a:lumMod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bg1"/>
                </a:solidFill>
              </a:rPr>
              <a:t>Rotors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6" name="Google Shape;117;p16">
            <a:extLst>
              <a:ext uri="{FF2B5EF4-FFF2-40B4-BE49-F238E27FC236}">
                <a16:creationId xmlns:a16="http://schemas.microsoft.com/office/drawing/2014/main" id="{BE42046A-D38B-3CA0-179F-992E0F9A5EF2}"/>
              </a:ext>
            </a:extLst>
          </p:cNvPr>
          <p:cNvSpPr/>
          <p:nvPr/>
        </p:nvSpPr>
        <p:spPr>
          <a:xfrm>
            <a:off x="6839525" y="2984933"/>
            <a:ext cx="1663150" cy="444087"/>
          </a:xfrm>
          <a:prstGeom prst="rect">
            <a:avLst/>
          </a:prstGeom>
          <a:solidFill>
            <a:schemeClr val="tx1">
              <a:lumMod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</a:rPr>
              <a:t>Reflector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7" name="Google Shape;118;p16">
            <a:extLst>
              <a:ext uri="{FF2B5EF4-FFF2-40B4-BE49-F238E27FC236}">
                <a16:creationId xmlns:a16="http://schemas.microsoft.com/office/drawing/2014/main" id="{4D08FE97-AB9C-EEDE-F4F1-570FEC7A4E47}"/>
              </a:ext>
            </a:extLst>
          </p:cNvPr>
          <p:cNvSpPr/>
          <p:nvPr/>
        </p:nvSpPr>
        <p:spPr>
          <a:xfrm>
            <a:off x="194749" y="4418968"/>
            <a:ext cx="1552226" cy="659425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Message</a:t>
            </a:r>
            <a:endParaRPr b="1" dirty="0"/>
          </a:p>
        </p:txBody>
      </p:sp>
      <p:sp>
        <p:nvSpPr>
          <p:cNvPr id="8" name="Google Shape;119;p16">
            <a:extLst>
              <a:ext uri="{FF2B5EF4-FFF2-40B4-BE49-F238E27FC236}">
                <a16:creationId xmlns:a16="http://schemas.microsoft.com/office/drawing/2014/main" id="{DFE0A8D2-3B28-3652-104E-8787430662EA}"/>
              </a:ext>
            </a:extLst>
          </p:cNvPr>
          <p:cNvSpPr/>
          <p:nvPr/>
        </p:nvSpPr>
        <p:spPr>
          <a:xfrm rot="5400000" flipH="1">
            <a:off x="1270177" y="4018665"/>
            <a:ext cx="1250100" cy="33731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20;p16">
            <a:extLst>
              <a:ext uri="{FF2B5EF4-FFF2-40B4-BE49-F238E27FC236}">
                <a16:creationId xmlns:a16="http://schemas.microsoft.com/office/drawing/2014/main" id="{7140B046-981B-AAE7-9F0B-4B24E70C411C}"/>
              </a:ext>
            </a:extLst>
          </p:cNvPr>
          <p:cNvSpPr/>
          <p:nvPr/>
        </p:nvSpPr>
        <p:spPr>
          <a:xfrm>
            <a:off x="2695325" y="4600483"/>
            <a:ext cx="1681251" cy="384851"/>
          </a:xfrm>
          <a:prstGeom prst="rect">
            <a:avLst/>
          </a:prstGeom>
          <a:solidFill>
            <a:schemeClr val="tx1">
              <a:lumMod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bg1"/>
                </a:solidFill>
              </a:rPr>
              <a:t>Lightboard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4D43C76D-FFB0-0107-3C60-1D31521BB376}"/>
              </a:ext>
            </a:extLst>
          </p:cNvPr>
          <p:cNvSpPr/>
          <p:nvPr/>
        </p:nvSpPr>
        <p:spPr>
          <a:xfrm>
            <a:off x="3803040" y="2439478"/>
            <a:ext cx="1312153" cy="51568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Google Shape;123;p16">
            <a:extLst>
              <a:ext uri="{FF2B5EF4-FFF2-40B4-BE49-F238E27FC236}">
                <a16:creationId xmlns:a16="http://schemas.microsoft.com/office/drawing/2014/main" id="{682215AA-F070-BFCD-5550-76144B7C7536}"/>
              </a:ext>
            </a:extLst>
          </p:cNvPr>
          <p:cNvSpPr/>
          <p:nvPr/>
        </p:nvSpPr>
        <p:spPr>
          <a:xfrm>
            <a:off x="5986156" y="2439478"/>
            <a:ext cx="1454318" cy="534328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" name="Google Shape;125;p16">
            <a:extLst>
              <a:ext uri="{FF2B5EF4-FFF2-40B4-BE49-F238E27FC236}">
                <a16:creationId xmlns:a16="http://schemas.microsoft.com/office/drawing/2014/main" id="{858BB67C-DD9C-8EDD-5C37-2A1448265F4F}"/>
              </a:ext>
            </a:extLst>
          </p:cNvPr>
          <p:cNvSpPr/>
          <p:nvPr/>
        </p:nvSpPr>
        <p:spPr>
          <a:xfrm rot="10800000">
            <a:off x="3731373" y="3512779"/>
            <a:ext cx="1383819" cy="588001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26;p16">
            <a:extLst>
              <a:ext uri="{FF2B5EF4-FFF2-40B4-BE49-F238E27FC236}">
                <a16:creationId xmlns:a16="http://schemas.microsoft.com/office/drawing/2014/main" id="{B29C5C71-615D-9597-E40F-C9B84F2ECFE1}"/>
              </a:ext>
            </a:extLst>
          </p:cNvPr>
          <p:cNvSpPr/>
          <p:nvPr/>
        </p:nvSpPr>
        <p:spPr>
          <a:xfrm>
            <a:off x="2939067" y="3506675"/>
            <a:ext cx="132105" cy="1005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27;p16">
            <a:extLst>
              <a:ext uri="{FF2B5EF4-FFF2-40B4-BE49-F238E27FC236}">
                <a16:creationId xmlns:a16="http://schemas.microsoft.com/office/drawing/2014/main" id="{D399FCBD-F817-1939-EA18-F96077B44C02}"/>
              </a:ext>
            </a:extLst>
          </p:cNvPr>
          <p:cNvSpPr txBox="1"/>
          <p:nvPr/>
        </p:nvSpPr>
        <p:spPr>
          <a:xfrm>
            <a:off x="14512" y="1292591"/>
            <a:ext cx="2960344" cy="93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ea typeface="Lato"/>
                <a:cs typeface="Lato"/>
                <a:sym typeface="Lato"/>
              </a:rPr>
              <a:t>The plugboard can have up to 13 pairs of alphabets. If the letter pressed has a pair, it is swapped with it.</a:t>
            </a:r>
            <a:endParaRPr sz="1400" dirty="0">
              <a:ea typeface="Lato"/>
              <a:cs typeface="Lato"/>
              <a:sym typeface="Lato"/>
            </a:endParaRPr>
          </a:p>
        </p:txBody>
      </p:sp>
      <p:sp>
        <p:nvSpPr>
          <p:cNvPr id="17" name="Google Shape;128;p16">
            <a:extLst>
              <a:ext uri="{FF2B5EF4-FFF2-40B4-BE49-F238E27FC236}">
                <a16:creationId xmlns:a16="http://schemas.microsoft.com/office/drawing/2014/main" id="{E2B4BF38-02EB-85AA-AB89-44DD865662B6}"/>
              </a:ext>
            </a:extLst>
          </p:cNvPr>
          <p:cNvSpPr txBox="1"/>
          <p:nvPr/>
        </p:nvSpPr>
        <p:spPr>
          <a:xfrm>
            <a:off x="3216984" y="1292591"/>
            <a:ext cx="3099385" cy="77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ea typeface="Lato"/>
                <a:cs typeface="Lato"/>
                <a:sym typeface="Lato"/>
              </a:rPr>
              <a:t>There are 3 rotors in the Enigma machine that encrypt the letter passing through them</a:t>
            </a:r>
            <a:endParaRPr sz="1400" dirty="0">
              <a:ea typeface="Lato"/>
              <a:cs typeface="Lato"/>
              <a:sym typeface="Lato"/>
            </a:endParaRPr>
          </a:p>
        </p:txBody>
      </p:sp>
      <p:sp>
        <p:nvSpPr>
          <p:cNvPr id="18" name="Google Shape;129;p16">
            <a:extLst>
              <a:ext uri="{FF2B5EF4-FFF2-40B4-BE49-F238E27FC236}">
                <a16:creationId xmlns:a16="http://schemas.microsoft.com/office/drawing/2014/main" id="{2153C8C2-EF11-CB28-0316-7BC49FD3D27F}"/>
              </a:ext>
            </a:extLst>
          </p:cNvPr>
          <p:cNvSpPr txBox="1"/>
          <p:nvPr/>
        </p:nvSpPr>
        <p:spPr>
          <a:xfrm>
            <a:off x="6351699" y="1281464"/>
            <a:ext cx="2745287" cy="77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ea typeface="Lato"/>
                <a:cs typeface="Lato"/>
                <a:sym typeface="Lato"/>
              </a:rPr>
              <a:t>The reflector acts as another plugboard which sends the message back through the rotors and plugboard</a:t>
            </a:r>
            <a:endParaRPr sz="1400" dirty="0">
              <a:ea typeface="Lato"/>
              <a:cs typeface="Lato"/>
              <a:sym typeface="Lato"/>
            </a:endParaRPr>
          </a:p>
        </p:txBody>
      </p:sp>
      <p:sp>
        <p:nvSpPr>
          <p:cNvPr id="19" name="Google Shape;130;p16">
            <a:extLst>
              <a:ext uri="{FF2B5EF4-FFF2-40B4-BE49-F238E27FC236}">
                <a16:creationId xmlns:a16="http://schemas.microsoft.com/office/drawing/2014/main" id="{45FE91BC-C50F-22B1-AF70-EEEF7CCF4F68}"/>
              </a:ext>
            </a:extLst>
          </p:cNvPr>
          <p:cNvSpPr txBox="1"/>
          <p:nvPr/>
        </p:nvSpPr>
        <p:spPr>
          <a:xfrm>
            <a:off x="4411317" y="4454679"/>
            <a:ext cx="3313025" cy="58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ea typeface="Lato"/>
                <a:cs typeface="Lato"/>
                <a:sym typeface="Lato"/>
              </a:rPr>
              <a:t>The encrypted letter lights up on a lightboard which is copied down.</a:t>
            </a:r>
            <a:endParaRPr sz="1400" dirty="0">
              <a:ea typeface="Lato"/>
              <a:cs typeface="Lato"/>
              <a:sym typeface="Lato"/>
            </a:endParaRPr>
          </a:p>
        </p:txBody>
      </p:sp>
      <p:sp>
        <p:nvSpPr>
          <p:cNvPr id="20" name="Google Shape;122;p16">
            <a:extLst>
              <a:ext uri="{FF2B5EF4-FFF2-40B4-BE49-F238E27FC236}">
                <a16:creationId xmlns:a16="http://schemas.microsoft.com/office/drawing/2014/main" id="{AAD4740A-7C83-2D7C-2DF5-A7821BDA0105}"/>
              </a:ext>
            </a:extLst>
          </p:cNvPr>
          <p:cNvSpPr/>
          <p:nvPr/>
        </p:nvSpPr>
        <p:spPr>
          <a:xfrm>
            <a:off x="1703526" y="2448797"/>
            <a:ext cx="1312153" cy="51568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1" name="Google Shape;125;p16">
            <a:extLst>
              <a:ext uri="{FF2B5EF4-FFF2-40B4-BE49-F238E27FC236}">
                <a16:creationId xmlns:a16="http://schemas.microsoft.com/office/drawing/2014/main" id="{5EC9F5DE-BA2C-CC58-CBDB-22D2D5F08ADF}"/>
              </a:ext>
            </a:extLst>
          </p:cNvPr>
          <p:cNvSpPr/>
          <p:nvPr/>
        </p:nvSpPr>
        <p:spPr>
          <a:xfrm rot="10800000">
            <a:off x="5961113" y="3466904"/>
            <a:ext cx="1383819" cy="588001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95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058D6-8A14-B2B5-3DBC-8DAEE420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475449"/>
            <a:ext cx="1971675" cy="1910443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" sz="3200" dirty="0"/>
              <a:t>Overview</a:t>
            </a:r>
            <a:br>
              <a:rPr lang="en" sz="3200" dirty="0"/>
            </a:br>
            <a:r>
              <a:rPr lang="en" sz="3200" b="1" dirty="0"/>
              <a:t>Enigma Machine Parts</a:t>
            </a:r>
            <a:endParaRPr lang="en-US" sz="3200" b="1" dirty="0">
              <a:solidFill>
                <a:srgbClr val="FFFFFF"/>
              </a:solidFill>
            </a:endParaRPr>
          </a:p>
        </p:txBody>
      </p:sp>
      <p:pic>
        <p:nvPicPr>
          <p:cNvPr id="3" name="Google Shape;136;p17" descr="A diagram of a machine&#10;&#10;Description automatically generated">
            <a:extLst>
              <a:ext uri="{FF2B5EF4-FFF2-40B4-BE49-F238E27FC236}">
                <a16:creationId xmlns:a16="http://schemas.microsoft.com/office/drawing/2014/main" id="{DD34FF4A-473B-33F6-D638-F49112FCFCFA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162395" y="488611"/>
            <a:ext cx="5876903" cy="40345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100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A11688B-0A27-4E86-8D55-76F71ADF2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4A868B-654E-447C-8D9C-0F9328308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43F5E5-7E34-4029-B18F-CAED02086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59931FA-11DF-4781-8AAD-FEE88674F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0F88E6C-5782-452A-8C4F-9D2C2EAC8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7" cy="2356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76A5-AC53-1E9D-6932-A8F2BEB7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48" y="273843"/>
            <a:ext cx="8317705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 Component: The Keyboard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C44F1-275A-6A6E-869D-426C3428B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182" y="1439924"/>
            <a:ext cx="2820171" cy="3276249"/>
          </a:xfrm>
        </p:spPr>
        <p:txBody>
          <a:bodyPr>
            <a:normAutofit/>
          </a:bodyPr>
          <a:lstStyle/>
          <a:p>
            <a:pPr marL="142304" indent="-142304" defTabSz="569214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kern="1200" dirty="0">
                <a:solidFill>
                  <a:schemeClr val="tx1"/>
                </a:solidFill>
                <a:ea typeface="Lato"/>
                <a:cs typeface="Lato"/>
                <a:sym typeface="Lato"/>
              </a:rPr>
              <a:t>The first component of the Enigma Machine is the keyboard.</a:t>
            </a:r>
          </a:p>
          <a:p>
            <a:pPr marL="142304" indent="-142304" defTabSz="569214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kern="1200" dirty="0">
              <a:solidFill>
                <a:schemeClr val="tx1"/>
              </a:solidFill>
              <a:ea typeface="Lato"/>
              <a:cs typeface="Lato"/>
              <a:sym typeface="Lato"/>
            </a:endParaRPr>
          </a:p>
          <a:p>
            <a:pPr marL="142304" indent="-142304" defTabSz="569214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kern="1200" dirty="0">
                <a:solidFill>
                  <a:schemeClr val="tx1"/>
                </a:solidFill>
                <a:ea typeface="Lato"/>
                <a:cs typeface="Lato"/>
                <a:sym typeface="Lato"/>
              </a:rPr>
              <a:t>It takes in user input to be ciphered.</a:t>
            </a:r>
            <a:endParaRPr lang="en-US" sz="2000" dirty="0">
              <a:ea typeface="Lato"/>
              <a:cs typeface="Lato"/>
              <a:sym typeface="Lato"/>
            </a:endParaRPr>
          </a:p>
        </p:txBody>
      </p:sp>
      <p:pic>
        <p:nvPicPr>
          <p:cNvPr id="8" name="Google Shape;141;p18">
            <a:extLst>
              <a:ext uri="{FF2B5EF4-FFF2-40B4-BE49-F238E27FC236}">
                <a16:creationId xmlns:a16="http://schemas.microsoft.com/office/drawing/2014/main" id="{32CB26E8-DBEE-02F5-80DF-69529E26E570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504037" y="1541859"/>
            <a:ext cx="4581896" cy="3176589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23A7CC-39D6-DC66-92EF-790F8FA6A367}"/>
              </a:ext>
            </a:extLst>
          </p:cNvPr>
          <p:cNvSpPr/>
          <p:nvPr/>
        </p:nvSpPr>
        <p:spPr>
          <a:xfrm>
            <a:off x="4086251" y="3822229"/>
            <a:ext cx="1914668" cy="89394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2">
                    <a:lumMod val="50000"/>
                  </a:schemeClr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39957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76A5-AC53-1E9D-6932-A8F2BEB7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“sanitize”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C44F1-275A-6A6E-869D-426C3428B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1910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Wingdings" panose="05000000000000000000" pitchFamily="2" charset="2"/>
              <a:buChar char="§"/>
            </a:pPr>
            <a:r>
              <a:rPr lang="en-US" sz="2000" dirty="0"/>
              <a:t>It removes all spaces and capitalizes the entire message</a:t>
            </a:r>
          </a:p>
          <a:p>
            <a:pPr marL="41910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Wingdings" panose="05000000000000000000" pitchFamily="2" charset="2"/>
              <a:buChar char="§"/>
            </a:pPr>
            <a:r>
              <a:rPr lang="en-US" sz="2000" dirty="0"/>
              <a:t>No spaces strengthens the ciphered text</a:t>
            </a:r>
          </a:p>
          <a:p>
            <a:pPr marL="41910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Wingdings" panose="05000000000000000000" pitchFamily="2" charset="2"/>
              <a:buChar char="§"/>
            </a:pPr>
            <a:r>
              <a:rPr lang="en-US" sz="2000" dirty="0"/>
              <a:t>Capital letters simplify coding the routers with the use of the ASCII chart.</a:t>
            </a:r>
          </a:p>
        </p:txBody>
      </p:sp>
      <p:pic>
        <p:nvPicPr>
          <p:cNvPr id="3" name="Google Shape;150;p19">
            <a:extLst>
              <a:ext uri="{FF2B5EF4-FFF2-40B4-BE49-F238E27FC236}">
                <a16:creationId xmlns:a16="http://schemas.microsoft.com/office/drawing/2014/main" id="{79785ECF-D216-AFC4-26FD-A66F2D49C35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37481" y="747992"/>
            <a:ext cx="5064471" cy="299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9;p19">
            <a:extLst>
              <a:ext uri="{FF2B5EF4-FFF2-40B4-BE49-F238E27FC236}">
                <a16:creationId xmlns:a16="http://schemas.microsoft.com/office/drawing/2014/main" id="{1D75A3EB-7360-4109-280F-2262876F399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4006" y="3646770"/>
            <a:ext cx="3271906" cy="13488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327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76A5-AC53-1E9D-6932-A8F2BEB7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48" y="273843"/>
            <a:ext cx="8317705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dirty="0"/>
              <a:t>Second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Component: The Plugboard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C44F1-275A-6A6E-869D-426C3428B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182" y="1439924"/>
            <a:ext cx="2820171" cy="3276249"/>
          </a:xfrm>
        </p:spPr>
        <p:txBody>
          <a:bodyPr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a typeface="Lato"/>
                <a:cs typeface="Lato"/>
                <a:sym typeface="Lato"/>
              </a:rPr>
              <a:t>The plugboard has to be used manually to swap letters with an inserted plug.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000" dirty="0">
              <a:ea typeface="Lato"/>
              <a:cs typeface="Lato"/>
              <a:sym typeface="La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a typeface="Lato"/>
                <a:cs typeface="Lato"/>
                <a:sym typeface="Lato"/>
              </a:rPr>
              <a:t>This is where the first cipher happens</a:t>
            </a:r>
            <a:r>
              <a:rPr lang="en-US" sz="2000" kern="1200" dirty="0">
                <a:solidFill>
                  <a:schemeClr val="tx1"/>
                </a:solidFill>
                <a:ea typeface="Lato"/>
                <a:cs typeface="Lato"/>
                <a:sym typeface="Lato"/>
              </a:rPr>
              <a:t>.</a:t>
            </a:r>
            <a:endParaRPr lang="en-US" sz="2000" dirty="0">
              <a:ea typeface="Lato"/>
              <a:cs typeface="Lato"/>
              <a:sym typeface="Lato"/>
            </a:endParaRPr>
          </a:p>
        </p:txBody>
      </p:sp>
      <p:pic>
        <p:nvPicPr>
          <p:cNvPr id="3" name="Google Shape;155;p20">
            <a:extLst>
              <a:ext uri="{FF2B5EF4-FFF2-40B4-BE49-F238E27FC236}">
                <a16:creationId xmlns:a16="http://schemas.microsoft.com/office/drawing/2014/main" id="{6B38AB4E-B78A-3EDE-8E81-EFDB68B07C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543" y="1578366"/>
            <a:ext cx="4846713" cy="34777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23A7CC-39D6-DC66-92EF-790F8FA6A367}"/>
              </a:ext>
            </a:extLst>
          </p:cNvPr>
          <p:cNvSpPr/>
          <p:nvPr/>
        </p:nvSpPr>
        <p:spPr>
          <a:xfrm>
            <a:off x="4933419" y="3207485"/>
            <a:ext cx="3672701" cy="89394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2">
                    <a:lumMod val="50000"/>
                  </a:schemeClr>
                </a:solidFill>
              </a:ln>
              <a:noFill/>
            </a:endParaRPr>
          </a:p>
        </p:txBody>
      </p:sp>
      <p:pic>
        <p:nvPicPr>
          <p:cNvPr id="5" name="Google Shape;158;p20">
            <a:extLst>
              <a:ext uri="{FF2B5EF4-FFF2-40B4-BE49-F238E27FC236}">
                <a16:creationId xmlns:a16="http://schemas.microsoft.com/office/drawing/2014/main" id="{77DDDE0A-E9A7-FF41-E207-0B058862C53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6754" y="3518933"/>
            <a:ext cx="3163888" cy="1456554"/>
          </a:xfrm>
          <a:prstGeom prst="rect">
            <a:avLst/>
          </a:prstGeom>
          <a:ln w="57150" cap="sq">
            <a:solidFill>
              <a:schemeClr val="accent2">
                <a:lumMod val="75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8935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76A5-AC53-1E9D-6932-A8F2BEB7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My Plugboard Settings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C44F1-275A-6A6E-869D-426C3428B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39" y="1543050"/>
            <a:ext cx="3693145" cy="3385297"/>
          </a:xfrm>
        </p:spPr>
        <p:txBody>
          <a:bodyPr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ea typeface="Lato"/>
                <a:cs typeface="Lato"/>
                <a:sym typeface="Lato"/>
              </a:rPr>
              <a:t>If no plugs are inserted is the plugboard, the letters go directly into the rotors.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1800" dirty="0">
              <a:ea typeface="Lato"/>
              <a:cs typeface="Lato"/>
              <a:sym typeface="La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Creating 10 plugboard pairs was a conventional number when using the enigma machine, although 13 pairs are the maximum possibility.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I created a string variable to store all my pairs and used the “.split” method to break them apart in my function.</a:t>
            </a:r>
          </a:p>
        </p:txBody>
      </p:sp>
      <p:sp>
        <p:nvSpPr>
          <p:cNvPr id="6" name="Google Shape;165;p21">
            <a:extLst>
              <a:ext uri="{FF2B5EF4-FFF2-40B4-BE49-F238E27FC236}">
                <a16:creationId xmlns:a16="http://schemas.microsoft.com/office/drawing/2014/main" id="{C065B338-D9DC-A827-4FF9-A39B16EBEE0E}"/>
              </a:ext>
            </a:extLst>
          </p:cNvPr>
          <p:cNvSpPr txBox="1"/>
          <p:nvPr/>
        </p:nvSpPr>
        <p:spPr>
          <a:xfrm>
            <a:off x="4821017" y="2007492"/>
            <a:ext cx="824400" cy="21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" name="Google Shape;166;p21">
            <a:extLst>
              <a:ext uri="{FF2B5EF4-FFF2-40B4-BE49-F238E27FC236}">
                <a16:creationId xmlns:a16="http://schemas.microsoft.com/office/drawing/2014/main" id="{6DF58ED7-6975-98AB-D120-478EF5821CB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64983" y="1216959"/>
            <a:ext cx="3579017" cy="362472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64;p21">
            <a:extLst>
              <a:ext uri="{FF2B5EF4-FFF2-40B4-BE49-F238E27FC236}">
                <a16:creationId xmlns:a16="http://schemas.microsoft.com/office/drawing/2014/main" id="{6EB3E536-5C63-EF88-6C4D-8A824C1C70B2}"/>
              </a:ext>
            </a:extLst>
          </p:cNvPr>
          <p:cNvSpPr txBox="1">
            <a:spLocks/>
          </p:cNvSpPr>
          <p:nvPr/>
        </p:nvSpPr>
        <p:spPr>
          <a:xfrm>
            <a:off x="4554283" y="1546412"/>
            <a:ext cx="1010700" cy="3988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l-PL" sz="1400" b="1" i="1" dirty="0">
                <a:solidFill>
                  <a:schemeClr val="accent2">
                    <a:lumMod val="75000"/>
                  </a:schemeClr>
                </a:solidFill>
              </a:rPr>
              <a:t>My pairs: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pl-PL" sz="14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l-PL" sz="1400" b="1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9B65D38-FF5D-67DB-4763-30E7FDBE1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917046"/>
              </p:ext>
            </p:extLst>
          </p:nvPr>
        </p:nvGraphicFramePr>
        <p:xfrm>
          <a:off x="4471149" y="1854882"/>
          <a:ext cx="123282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121">
                  <a:extLst>
                    <a:ext uri="{9D8B030D-6E8A-4147-A177-3AD203B41FA5}">
                      <a16:colId xmlns:a16="http://schemas.microsoft.com/office/drawing/2014/main" val="3210710792"/>
                    </a:ext>
                  </a:extLst>
                </a:gridCol>
                <a:gridCol w="638704">
                  <a:extLst>
                    <a:ext uri="{9D8B030D-6E8A-4147-A177-3AD203B41FA5}">
                      <a16:colId xmlns:a16="http://schemas.microsoft.com/office/drawing/2014/main" val="379381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FFFF00"/>
                          </a:solidFill>
                        </a:rPr>
                        <a:t>b &amp;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dirty="0">
                          <a:solidFill>
                            <a:srgbClr val="FFFF00"/>
                          </a:solidFill>
                          <a:sym typeface="Lato"/>
                        </a:rPr>
                        <a:t>m &amp; t </a:t>
                      </a:r>
                      <a:endParaRPr lang="pl-PL" sz="1200" b="0" dirty="0">
                        <a:solidFill>
                          <a:srgbClr val="FFFF00"/>
                        </a:solidFill>
                        <a:ea typeface="Lato"/>
                        <a:cs typeface="Lato"/>
                        <a:sym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224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FFFF00"/>
                          </a:solidFill>
                        </a:rPr>
                        <a:t>c &amp;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dirty="0">
                          <a:solidFill>
                            <a:srgbClr val="FFFF00"/>
                          </a:solidFill>
                          <a:sym typeface="Lato"/>
                        </a:rPr>
                        <a:t>o &amp; s </a:t>
                      </a:r>
                      <a:endParaRPr lang="pl-PL" sz="1200" b="0" dirty="0">
                        <a:solidFill>
                          <a:srgbClr val="FFFF00"/>
                        </a:solidFill>
                        <a:ea typeface="Lato"/>
                        <a:cs typeface="Lato"/>
                        <a:sym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28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FFFF00"/>
                          </a:solidFill>
                        </a:rPr>
                        <a:t>d &amp; </a:t>
                      </a:r>
                      <a:r>
                        <a:rPr lang="en-US" sz="1200" b="0" dirty="0" err="1">
                          <a:solidFill>
                            <a:srgbClr val="FFFF00"/>
                          </a:solidFill>
                        </a:rPr>
                        <a:t>i</a:t>
                      </a:r>
                      <a:endParaRPr lang="en-US" sz="1200" b="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dirty="0">
                          <a:solidFill>
                            <a:srgbClr val="FFFF00"/>
                          </a:solidFill>
                          <a:sym typeface="Lato"/>
                        </a:rPr>
                        <a:t>p &amp; x </a:t>
                      </a:r>
                      <a:endParaRPr lang="pl-PL" sz="1200" b="0" dirty="0">
                        <a:solidFill>
                          <a:srgbClr val="FFFF00"/>
                        </a:solidFill>
                        <a:ea typeface="Lato"/>
                        <a:cs typeface="Lato"/>
                        <a:sym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46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dirty="0">
                          <a:solidFill>
                            <a:srgbClr val="FFFF00"/>
                          </a:solidFill>
                        </a:rPr>
                        <a:t>e &amp; j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dirty="0">
                          <a:solidFill>
                            <a:srgbClr val="FFFF00"/>
                          </a:solidFill>
                          <a:sym typeface="Lato"/>
                        </a:rPr>
                        <a:t>u &amp; z </a:t>
                      </a:r>
                      <a:endParaRPr lang="pl-PL" sz="1200" b="0" dirty="0">
                        <a:solidFill>
                          <a:srgbClr val="FFFF00"/>
                        </a:solidFill>
                        <a:ea typeface="Lato"/>
                        <a:cs typeface="Lato"/>
                        <a:sym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545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dirty="0">
                          <a:solidFill>
                            <a:srgbClr val="FFFF00"/>
                          </a:solidFill>
                        </a:rPr>
                        <a:t>k &amp; w</a:t>
                      </a:r>
                      <a:endParaRPr lang="en-US" sz="1200" b="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dirty="0">
                          <a:solidFill>
                            <a:srgbClr val="FFFF00"/>
                          </a:solidFill>
                          <a:sym typeface="Lato"/>
                        </a:rPr>
                        <a:t>g &amp; h</a:t>
                      </a:r>
                      <a:endParaRPr lang="pl-PL" sz="1200" b="0" dirty="0">
                        <a:solidFill>
                          <a:srgbClr val="FFFF00"/>
                        </a:solidFill>
                        <a:ea typeface="Lato"/>
                        <a:cs typeface="Lato"/>
                        <a:sym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019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67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76A5-AC53-1E9D-6932-A8F2BEB7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48" y="273843"/>
            <a:ext cx="8317705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dirty="0"/>
              <a:t>Third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Component: The Static Wheel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C44F1-275A-6A6E-869D-426C3428B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182" y="1439924"/>
            <a:ext cx="3280400" cy="3276249"/>
          </a:xfrm>
        </p:spPr>
        <p:txBody>
          <a:bodyPr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a typeface="Lato"/>
                <a:cs typeface="Lato"/>
                <a:sym typeface="Lato"/>
              </a:rPr>
              <a:t>The static wheel contains all of the alphabet.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000" dirty="0">
              <a:ea typeface="Lato"/>
              <a:cs typeface="Lato"/>
              <a:sym typeface="La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a typeface="Lato"/>
                <a:cs typeface="Lato"/>
                <a:sym typeface="Lato"/>
              </a:rPr>
              <a:t>It receives the letters from the plugboard to be ciphered and sends them back out of the plugboard once ciphered.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000" dirty="0">
              <a:ea typeface="Lato"/>
              <a:cs typeface="Lato"/>
              <a:sym typeface="La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a typeface="Lato"/>
                <a:cs typeface="Lato"/>
                <a:sym typeface="Lato"/>
              </a:rPr>
              <a:t>It is the starting wheel.</a:t>
            </a:r>
          </a:p>
        </p:txBody>
      </p:sp>
      <p:pic>
        <p:nvPicPr>
          <p:cNvPr id="6" name="Google Shape;178;p23">
            <a:extLst>
              <a:ext uri="{FF2B5EF4-FFF2-40B4-BE49-F238E27FC236}">
                <a16:creationId xmlns:a16="http://schemas.microsoft.com/office/drawing/2014/main" id="{3332FC08-5D64-DA7A-9CD2-4A1E7CF4CA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883" y="1337742"/>
            <a:ext cx="4893369" cy="36174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23A7CC-39D6-DC66-92EF-790F8FA6A367}"/>
              </a:ext>
            </a:extLst>
          </p:cNvPr>
          <p:cNvSpPr/>
          <p:nvPr/>
        </p:nvSpPr>
        <p:spPr>
          <a:xfrm rot="16200000">
            <a:off x="6955370" y="1892550"/>
            <a:ext cx="1701296" cy="591671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2">
                    <a:lumMod val="50000"/>
                  </a:schemeClr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6628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608A-1ED6-01BD-BD99-04C094EB0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Component: Rotors</a:t>
            </a:r>
          </a:p>
        </p:txBody>
      </p:sp>
      <p:sp>
        <p:nvSpPr>
          <p:cNvPr id="3" name="Google Shape;205;p27">
            <a:extLst>
              <a:ext uri="{FF2B5EF4-FFF2-40B4-BE49-F238E27FC236}">
                <a16:creationId xmlns:a16="http://schemas.microsoft.com/office/drawing/2014/main" id="{6A94B25F-7528-55CD-CB99-52793DA8FC92}"/>
              </a:ext>
            </a:extLst>
          </p:cNvPr>
          <p:cNvSpPr txBox="1"/>
          <p:nvPr/>
        </p:nvSpPr>
        <p:spPr>
          <a:xfrm>
            <a:off x="2191156" y="1897868"/>
            <a:ext cx="1935439" cy="176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ea typeface="Lato"/>
                <a:cs typeface="Lato"/>
                <a:sym typeface="Lato"/>
              </a:rPr>
              <a:t>The rotors are labeled 1-26:</a:t>
            </a:r>
            <a:endParaRPr sz="1200" dirty="0"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ea typeface="Lato"/>
                <a:cs typeface="Lato"/>
                <a:sym typeface="Lato"/>
              </a:rPr>
              <a:t>1 corresponds to A </a:t>
            </a:r>
            <a:endParaRPr sz="1200" b="1" dirty="0"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ea typeface="Lato"/>
                <a:cs typeface="Lato"/>
                <a:sym typeface="Lato"/>
              </a:rPr>
              <a:t>2 corresponds to B</a:t>
            </a:r>
            <a:endParaRPr sz="1200" b="1" dirty="0"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ea typeface="Lato"/>
                <a:cs typeface="Lato"/>
                <a:sym typeface="Lato"/>
              </a:rPr>
              <a:t>…</a:t>
            </a:r>
            <a:endParaRPr sz="1200" b="1" dirty="0"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ea typeface="Lato"/>
                <a:cs typeface="Lato"/>
                <a:sym typeface="Lato"/>
              </a:rPr>
              <a:t>26 corresponds to Z</a:t>
            </a:r>
            <a:endParaRPr sz="1200" b="1" dirty="0">
              <a:ea typeface="Lato"/>
              <a:cs typeface="Lato"/>
              <a:sym typeface="Lato"/>
            </a:endParaRPr>
          </a:p>
        </p:txBody>
      </p:sp>
      <p:pic>
        <p:nvPicPr>
          <p:cNvPr id="4" name="Google Shape;206;p27">
            <a:extLst>
              <a:ext uri="{FF2B5EF4-FFF2-40B4-BE49-F238E27FC236}">
                <a16:creationId xmlns:a16="http://schemas.microsoft.com/office/drawing/2014/main" id="{ACCEE3D3-315B-67E8-EFAA-4112E0B8122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0900" y="1853850"/>
            <a:ext cx="1940582" cy="18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7;p27">
            <a:extLst>
              <a:ext uri="{FF2B5EF4-FFF2-40B4-BE49-F238E27FC236}">
                <a16:creationId xmlns:a16="http://schemas.microsoft.com/office/drawing/2014/main" id="{F1DE56A3-2417-B377-A066-05909418A95C}"/>
              </a:ext>
            </a:extLst>
          </p:cNvPr>
          <p:cNvSpPr txBox="1">
            <a:spLocks/>
          </p:cNvSpPr>
          <p:nvPr/>
        </p:nvSpPr>
        <p:spPr>
          <a:xfrm>
            <a:off x="255717" y="1487818"/>
            <a:ext cx="1935439" cy="535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800" dirty="0">
                <a:latin typeface="+mn-lt"/>
              </a:rPr>
              <a:t>Rotors</a:t>
            </a:r>
          </a:p>
        </p:txBody>
      </p:sp>
      <p:sp>
        <p:nvSpPr>
          <p:cNvPr id="6" name="Google Shape;208;p27">
            <a:extLst>
              <a:ext uri="{FF2B5EF4-FFF2-40B4-BE49-F238E27FC236}">
                <a16:creationId xmlns:a16="http://schemas.microsoft.com/office/drawing/2014/main" id="{6DF87313-FBC2-E7B9-FABA-9913BCB41B03}"/>
              </a:ext>
            </a:extLst>
          </p:cNvPr>
          <p:cNvSpPr txBox="1"/>
          <p:nvPr/>
        </p:nvSpPr>
        <p:spPr>
          <a:xfrm>
            <a:off x="6849475" y="3229727"/>
            <a:ext cx="2346827" cy="53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ea typeface="Lato"/>
                <a:cs typeface="Lato"/>
                <a:sym typeface="Lato"/>
              </a:rPr>
              <a:t>Rotor 3: Rotates every time a key is pressed on the keyboard.</a:t>
            </a:r>
            <a:endParaRPr sz="1200" b="1" dirty="0">
              <a:ea typeface="Lato"/>
              <a:cs typeface="Lato"/>
              <a:sym typeface="Lato"/>
            </a:endParaRPr>
          </a:p>
        </p:txBody>
      </p:sp>
      <p:sp>
        <p:nvSpPr>
          <p:cNvPr id="7" name="Google Shape;209;p27">
            <a:extLst>
              <a:ext uri="{FF2B5EF4-FFF2-40B4-BE49-F238E27FC236}">
                <a16:creationId xmlns:a16="http://schemas.microsoft.com/office/drawing/2014/main" id="{512799FA-1553-6DB1-2C0F-D7D4A920FC2F}"/>
              </a:ext>
            </a:extLst>
          </p:cNvPr>
          <p:cNvSpPr txBox="1"/>
          <p:nvPr/>
        </p:nvSpPr>
        <p:spPr>
          <a:xfrm>
            <a:off x="6849475" y="2675000"/>
            <a:ext cx="2503543" cy="47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1200" b="1">
                <a:ea typeface="Lato"/>
                <a:cs typeface="Lato"/>
              </a:defRPr>
            </a:lvl1pPr>
          </a:lstStyle>
          <a:p>
            <a:r>
              <a:rPr lang="en" dirty="0">
                <a:sym typeface="Lato"/>
              </a:rPr>
              <a:t>Rotor 2:</a:t>
            </a:r>
            <a:endParaRPr dirty="0">
              <a:sym typeface="Lato"/>
            </a:endParaRPr>
          </a:p>
          <a:p>
            <a:r>
              <a:rPr lang="en" dirty="0">
                <a:sym typeface="Lato"/>
              </a:rPr>
              <a:t>Rotates after ~26 turns of Rotor 3.</a:t>
            </a:r>
            <a:endParaRPr dirty="0">
              <a:sym typeface="Lato"/>
            </a:endParaRPr>
          </a:p>
        </p:txBody>
      </p:sp>
      <p:sp>
        <p:nvSpPr>
          <p:cNvPr id="8" name="Google Shape;210;p27">
            <a:extLst>
              <a:ext uri="{FF2B5EF4-FFF2-40B4-BE49-F238E27FC236}">
                <a16:creationId xmlns:a16="http://schemas.microsoft.com/office/drawing/2014/main" id="{0BCE22C9-35D5-8955-FD67-FE7584504B39}"/>
              </a:ext>
            </a:extLst>
          </p:cNvPr>
          <p:cNvSpPr txBox="1"/>
          <p:nvPr/>
        </p:nvSpPr>
        <p:spPr>
          <a:xfrm>
            <a:off x="6849475" y="2198577"/>
            <a:ext cx="2884936" cy="459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1200" b="1">
                <a:ea typeface="Lato"/>
                <a:cs typeface="Lato"/>
              </a:defRPr>
            </a:lvl1pPr>
          </a:lstStyle>
          <a:p>
            <a:r>
              <a:rPr lang="en" dirty="0">
                <a:sym typeface="Lato"/>
              </a:rPr>
              <a:t>Rotor 1:</a:t>
            </a:r>
            <a:endParaRPr dirty="0">
              <a:sym typeface="Lato"/>
            </a:endParaRPr>
          </a:p>
          <a:p>
            <a:r>
              <a:rPr lang="en" dirty="0">
                <a:sym typeface="Lato"/>
              </a:rPr>
              <a:t>Rotates after ~26 turns of Rotor 2.</a:t>
            </a:r>
            <a:endParaRPr dirty="0">
              <a:sym typeface="Lato"/>
            </a:endParaRPr>
          </a:p>
        </p:txBody>
      </p:sp>
      <p:pic>
        <p:nvPicPr>
          <p:cNvPr id="9" name="Google Shape;211;p27">
            <a:extLst>
              <a:ext uri="{FF2B5EF4-FFF2-40B4-BE49-F238E27FC236}">
                <a16:creationId xmlns:a16="http://schemas.microsoft.com/office/drawing/2014/main" id="{DCD717D7-A1B8-547E-20C0-E61229AF4F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232" t="2108" r="17713" b="55548"/>
          <a:stretch/>
        </p:blipFill>
        <p:spPr>
          <a:xfrm>
            <a:off x="320901" y="3791750"/>
            <a:ext cx="2769550" cy="11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12;p27">
            <a:extLst>
              <a:ext uri="{FF2B5EF4-FFF2-40B4-BE49-F238E27FC236}">
                <a16:creationId xmlns:a16="http://schemas.microsoft.com/office/drawing/2014/main" id="{02268AB1-E521-3297-A1E9-B6D043D3B7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70"/>
          <a:stretch/>
        </p:blipFill>
        <p:spPr>
          <a:xfrm>
            <a:off x="4274807" y="2241176"/>
            <a:ext cx="2641058" cy="142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13;p27">
            <a:extLst>
              <a:ext uri="{FF2B5EF4-FFF2-40B4-BE49-F238E27FC236}">
                <a16:creationId xmlns:a16="http://schemas.microsoft.com/office/drawing/2014/main" id="{3A1CE8A5-8DF3-376C-031A-664E815A54F1}"/>
              </a:ext>
            </a:extLst>
          </p:cNvPr>
          <p:cNvSpPr txBox="1"/>
          <p:nvPr/>
        </p:nvSpPr>
        <p:spPr>
          <a:xfrm>
            <a:off x="3037142" y="4393135"/>
            <a:ext cx="3069715" cy="5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ea typeface="Lato"/>
                <a:cs typeface="Lato"/>
                <a:sym typeface="Lato"/>
              </a:rPr>
              <a:t>* The two notches on rotor 1 &amp; 2 are on letters “W” and “F”</a:t>
            </a:r>
            <a:endParaRPr sz="1200" b="1" dirty="0"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319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76A5-AC53-1E9D-6932-A8F2BEB7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48" y="273843"/>
            <a:ext cx="8317705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dirty="0"/>
              <a:t>Fifth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Component: The Reflector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C44F1-275A-6A6E-869D-426C3428B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9452" y="1434528"/>
            <a:ext cx="3280400" cy="3276249"/>
          </a:xfrm>
        </p:spPr>
        <p:txBody>
          <a:bodyPr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a typeface="Lato"/>
                <a:cs typeface="Lato"/>
                <a:sym typeface="Lato"/>
              </a:rPr>
              <a:t>The reflector is where half of the alphabet is wired to the other half allowing for one swap of the letters before they re-enter the rotors.</a:t>
            </a:r>
          </a:p>
        </p:txBody>
      </p:sp>
      <p:pic>
        <p:nvPicPr>
          <p:cNvPr id="3" name="Google Shape;185;p24">
            <a:extLst>
              <a:ext uri="{FF2B5EF4-FFF2-40B4-BE49-F238E27FC236}">
                <a16:creationId xmlns:a16="http://schemas.microsoft.com/office/drawing/2014/main" id="{1A06FC28-224C-8B75-59A6-2C3E247BD1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678" y="1439924"/>
            <a:ext cx="4719236" cy="353930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23A7CC-39D6-DC66-92EF-790F8FA6A367}"/>
              </a:ext>
            </a:extLst>
          </p:cNvPr>
          <p:cNvSpPr/>
          <p:nvPr/>
        </p:nvSpPr>
        <p:spPr>
          <a:xfrm rot="16200000">
            <a:off x="5096982" y="1883131"/>
            <a:ext cx="1632729" cy="746315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2">
                    <a:lumMod val="50000"/>
                  </a:schemeClr>
                </a:solidFill>
              </a:ln>
              <a:noFill/>
            </a:endParaRPr>
          </a:p>
        </p:txBody>
      </p:sp>
      <p:pic>
        <p:nvPicPr>
          <p:cNvPr id="5" name="Google Shape;188;p24">
            <a:extLst>
              <a:ext uri="{FF2B5EF4-FFF2-40B4-BE49-F238E27FC236}">
                <a16:creationId xmlns:a16="http://schemas.microsoft.com/office/drawing/2014/main" id="{504E64EC-6FCC-D153-251A-A71CFBCA52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799" y="2937207"/>
            <a:ext cx="2042025" cy="2042025"/>
          </a:xfrm>
          <a:prstGeom prst="rect">
            <a:avLst/>
          </a:prstGeom>
          <a:ln w="57150" cap="sq">
            <a:solidFill>
              <a:schemeClr val="accent2">
                <a:lumMod val="75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1489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76A5-AC53-1E9D-6932-A8F2BEB7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48" y="273843"/>
            <a:ext cx="8317705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dirty="0"/>
              <a:t>Sixth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Component: The Lightboard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C44F1-275A-6A6E-869D-426C3428B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9452" y="1434528"/>
            <a:ext cx="3280400" cy="3276249"/>
          </a:xfrm>
        </p:spPr>
        <p:txBody>
          <a:bodyPr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a typeface="Lato"/>
                <a:cs typeface="Lato"/>
                <a:sym typeface="Lato"/>
              </a:rPr>
              <a:t>The light board lights up the resulting letter after the cipher is completed.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000" dirty="0">
              <a:ea typeface="Lato"/>
              <a:cs typeface="Lato"/>
              <a:sym typeface="La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a typeface="Lato"/>
                <a:cs typeface="Lato"/>
                <a:sym typeface="Lato"/>
              </a:rPr>
              <a:t>This letter is the output of the cipher.</a:t>
            </a:r>
          </a:p>
        </p:txBody>
      </p:sp>
      <p:pic>
        <p:nvPicPr>
          <p:cNvPr id="6" name="Google Shape;193;p25">
            <a:extLst>
              <a:ext uri="{FF2B5EF4-FFF2-40B4-BE49-F238E27FC236}">
                <a16:creationId xmlns:a16="http://schemas.microsoft.com/office/drawing/2014/main" id="{D6334524-AFD6-2772-037C-16987CBD78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9306" y="1434528"/>
            <a:ext cx="5128206" cy="357813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23A7CC-39D6-DC66-92EF-790F8FA6A367}"/>
              </a:ext>
            </a:extLst>
          </p:cNvPr>
          <p:cNvSpPr/>
          <p:nvPr/>
        </p:nvSpPr>
        <p:spPr>
          <a:xfrm rot="16200000">
            <a:off x="7111677" y="3471159"/>
            <a:ext cx="985274" cy="209774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2">
                    <a:lumMod val="50000"/>
                  </a:schemeClr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827458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979D-6F7D-2C5D-EDFD-51C74A24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3200" dirty="0"/>
              <a:t>Why is the Enigma Cipher so unique?</a:t>
            </a:r>
            <a:endParaRPr lang="en-US" sz="3200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00D3A80-D070-1988-1925-2C48AFBDA2F5}"/>
              </a:ext>
            </a:extLst>
          </p:cNvPr>
          <p:cNvSpPr txBox="1">
            <a:spLocks/>
          </p:cNvSpPr>
          <p:nvPr/>
        </p:nvSpPr>
        <p:spPr>
          <a:xfrm>
            <a:off x="58340" y="1422026"/>
            <a:ext cx="3397553" cy="3539938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17500">
              <a:spcBef>
                <a:spcPts val="0"/>
              </a:spcBef>
              <a:buSzPts val="1400"/>
              <a:buFont typeface="Wingdings" panose="05000000000000000000" pitchFamily="2" charset="2"/>
              <a:buChar char="§"/>
            </a:pPr>
            <a:r>
              <a:rPr lang="en-US" sz="1800">
                <a:ea typeface="Lato"/>
                <a:cs typeface="Lato"/>
                <a:sym typeface="Lato"/>
              </a:rPr>
              <a:t>Each letter is always paired up with a different corresponding letter.</a:t>
            </a:r>
          </a:p>
          <a:p>
            <a:pPr marL="457200" indent="-317500">
              <a:spcBef>
                <a:spcPts val="0"/>
              </a:spcBef>
              <a:buSzPts val="1400"/>
              <a:buFont typeface="Wingdings" panose="05000000000000000000" pitchFamily="2" charset="2"/>
              <a:buChar char="§"/>
            </a:pPr>
            <a:endParaRPr lang="en-US" sz="1800">
              <a:ea typeface="Lato"/>
              <a:cs typeface="Lato"/>
              <a:sym typeface="Lato"/>
            </a:endParaRPr>
          </a:p>
          <a:p>
            <a:pPr marL="457200" indent="-317500">
              <a:spcBef>
                <a:spcPts val="0"/>
              </a:spcBef>
              <a:buSzPts val="1400"/>
              <a:buFont typeface="Wingdings" panose="05000000000000000000" pitchFamily="2" charset="2"/>
              <a:buChar char="§"/>
            </a:pPr>
            <a:r>
              <a:rPr lang="en-US" sz="1800">
                <a:ea typeface="Lato"/>
                <a:cs typeface="Lato"/>
                <a:sym typeface="Lato"/>
              </a:rPr>
              <a:t>The spinning rotors make it to that the letters are swapped randomly every time so there are no weaknesses in the cipher.</a:t>
            </a:r>
          </a:p>
          <a:p>
            <a:pPr marL="457200" indent="-317500">
              <a:spcBef>
                <a:spcPts val="0"/>
              </a:spcBef>
              <a:buSzPts val="1400"/>
              <a:buFont typeface="Wingdings" panose="05000000000000000000" pitchFamily="2" charset="2"/>
              <a:buChar char="§"/>
            </a:pPr>
            <a:endParaRPr lang="en-US" sz="1800">
              <a:ea typeface="Lato"/>
              <a:cs typeface="Lato"/>
              <a:sym typeface="Lato"/>
            </a:endParaRPr>
          </a:p>
          <a:p>
            <a:pPr marL="800100" lvl="1" indent="-317500">
              <a:spcBef>
                <a:spcPts val="0"/>
              </a:spcBef>
              <a:buSzPts val="1400"/>
              <a:buFont typeface="Wingdings" panose="05000000000000000000" pitchFamily="2" charset="2"/>
              <a:buChar char="§"/>
            </a:pPr>
            <a:r>
              <a:rPr lang="en-US">
                <a:ea typeface="Lato"/>
                <a:cs typeface="Lato"/>
                <a:sym typeface="Lato"/>
              </a:rPr>
              <a:t>For example: there is never a most repeated letter to try and decipher the code with.</a:t>
            </a:r>
          </a:p>
          <a:p>
            <a:endParaRPr lang="en-US" sz="1800" dirty="0"/>
          </a:p>
        </p:txBody>
      </p:sp>
      <p:pic>
        <p:nvPicPr>
          <p:cNvPr id="4" name="Google Shape;220;p28">
            <a:extLst>
              <a:ext uri="{FF2B5EF4-FFF2-40B4-BE49-F238E27FC236}">
                <a16:creationId xmlns:a16="http://schemas.microsoft.com/office/drawing/2014/main" id="{C6E90B97-F24F-13FC-8B82-AF96778C207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6783" y="1524000"/>
            <a:ext cx="39814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1;p28">
            <a:extLst>
              <a:ext uri="{FF2B5EF4-FFF2-40B4-BE49-F238E27FC236}">
                <a16:creationId xmlns:a16="http://schemas.microsoft.com/office/drawing/2014/main" id="{A2E96AAA-11FA-0715-AAD9-441A1BA6B967}"/>
              </a:ext>
            </a:extLst>
          </p:cNvPr>
          <p:cNvSpPr/>
          <p:nvPr/>
        </p:nvSpPr>
        <p:spPr>
          <a:xfrm rot="-1400272">
            <a:off x="3748332" y="2494759"/>
            <a:ext cx="4132501" cy="153984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2;p28">
            <a:extLst>
              <a:ext uri="{FF2B5EF4-FFF2-40B4-BE49-F238E27FC236}">
                <a16:creationId xmlns:a16="http://schemas.microsoft.com/office/drawing/2014/main" id="{7A134818-6EC8-6FE2-1ABB-506FBB638977}"/>
              </a:ext>
            </a:extLst>
          </p:cNvPr>
          <p:cNvSpPr/>
          <p:nvPr/>
        </p:nvSpPr>
        <p:spPr>
          <a:xfrm rot="1384510">
            <a:off x="3870865" y="2494785"/>
            <a:ext cx="4132538" cy="15390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250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7C9E-9D33-E20B-85A6-B3F9985D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01938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273843"/>
            <a:ext cx="8375585" cy="156698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BBE60-320F-051F-40C0-9ED59F1D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440116"/>
            <a:ext cx="2670189" cy="12344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Implemented Model Details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79330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82656" y="1050479"/>
            <a:ext cx="109728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D00A3-C781-C230-0A30-C6B56CF56AAE}"/>
              </a:ext>
            </a:extLst>
          </p:cNvPr>
          <p:cNvSpPr txBox="1"/>
          <p:nvPr/>
        </p:nvSpPr>
        <p:spPr>
          <a:xfrm>
            <a:off x="4013373" y="440116"/>
            <a:ext cx="4501977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Model name: Enigma I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Reflector UKW B</a:t>
            </a:r>
            <a:endParaRPr lang="en-US" sz="1400">
              <a:sym typeface="Lato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ym typeface="Lato"/>
              </a:rPr>
              <a:t>The settings used for this model and reflector were assigned to the following variables in the code</a:t>
            </a:r>
          </a:p>
        </p:txBody>
      </p:sp>
      <p:pic>
        <p:nvPicPr>
          <p:cNvPr id="3" name="Google Shape;228;p29">
            <a:extLst>
              <a:ext uri="{FF2B5EF4-FFF2-40B4-BE49-F238E27FC236}">
                <a16:creationId xmlns:a16="http://schemas.microsoft.com/office/drawing/2014/main" id="{FF472435-E27D-4664-D3B3-A91222C0EE89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18338" y="2069547"/>
            <a:ext cx="8373618" cy="25748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7879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273843"/>
            <a:ext cx="8375585" cy="156698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BBE60-320F-051F-40C0-9ED59F1D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440116"/>
            <a:ext cx="2743200" cy="12344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400"/>
              <a:t>Rotor Shift Function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79330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82656" y="1050479"/>
            <a:ext cx="109728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D00A3-C781-C230-0A30-C6B56CF56AAE}"/>
              </a:ext>
            </a:extLst>
          </p:cNvPr>
          <p:cNvSpPr txBox="1"/>
          <p:nvPr/>
        </p:nvSpPr>
        <p:spPr>
          <a:xfrm>
            <a:off x="3937579" y="440116"/>
            <a:ext cx="4580057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lvl="0" indent="-22860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ym typeface="Lato"/>
              </a:rPr>
              <a:t>ASCII values for the capitalized alphabet allowed me to use Python’s </a:t>
            </a:r>
            <a:r>
              <a:rPr lang="en-US" sz="1400" b="1">
                <a:sym typeface="Lato"/>
              </a:rPr>
              <a:t>“ord()”</a:t>
            </a:r>
            <a:r>
              <a:rPr lang="en-US" sz="1400">
                <a:sym typeface="Lato"/>
              </a:rPr>
              <a:t> and </a:t>
            </a:r>
            <a:r>
              <a:rPr lang="en-US" sz="1400" b="1">
                <a:sym typeface="Lato"/>
              </a:rPr>
              <a:t>“chr()” </a:t>
            </a:r>
            <a:r>
              <a:rPr lang="en-US" sz="1400">
                <a:sym typeface="Lato"/>
              </a:rPr>
              <a:t>built in functions for conversions and shifts.</a:t>
            </a:r>
          </a:p>
        </p:txBody>
      </p:sp>
      <p:pic>
        <p:nvPicPr>
          <p:cNvPr id="6" name="Google Shape;234;p30">
            <a:extLst>
              <a:ext uri="{FF2B5EF4-FFF2-40B4-BE49-F238E27FC236}">
                <a16:creationId xmlns:a16="http://schemas.microsoft.com/office/drawing/2014/main" id="{88053C7E-71EF-938F-B2F4-37BA6D31D895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66298" y="1996221"/>
            <a:ext cx="2358140" cy="2612898"/>
          </a:xfrm>
          <a:prstGeom prst="rect">
            <a:avLst/>
          </a:prstGeom>
          <a:noFill/>
        </p:spPr>
      </p:pic>
      <p:pic>
        <p:nvPicPr>
          <p:cNvPr id="5" name="Google Shape;235;p30">
            <a:extLst>
              <a:ext uri="{FF2B5EF4-FFF2-40B4-BE49-F238E27FC236}">
                <a16:creationId xmlns:a16="http://schemas.microsoft.com/office/drawing/2014/main" id="{344BB8EE-91F6-830B-9FE5-6A6486058CAB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04603" y="2133858"/>
            <a:ext cx="3989157" cy="2612898"/>
          </a:xfrm>
          <a:prstGeom prst="rect">
            <a:avLst/>
          </a:prstGeom>
          <a:noFill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16ECE-B7B8-072B-F917-29326F218F69}"/>
              </a:ext>
            </a:extLst>
          </p:cNvPr>
          <p:cNvSpPr/>
          <p:nvPr/>
        </p:nvSpPr>
        <p:spPr>
          <a:xfrm rot="16200000">
            <a:off x="5700781" y="2858628"/>
            <a:ext cx="1872419" cy="9345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2">
                    <a:lumMod val="50000"/>
                  </a:schemeClr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715611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BE60-320F-051F-40C0-9ED59F1D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8" y="556043"/>
            <a:ext cx="3544688" cy="479381"/>
          </a:xfrm>
        </p:spPr>
        <p:txBody>
          <a:bodyPr vert="horz" lIns="91440" tIns="45720" rIns="91440" bIns="45720" rtlCol="0" anchor="t">
            <a:noAutofit/>
          </a:bodyPr>
          <a:lstStyle/>
          <a:p>
            <a:pPr defTabSz="914400"/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Encryption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D00A3-C781-C230-0A30-C6B56CF56AAE}"/>
              </a:ext>
            </a:extLst>
          </p:cNvPr>
          <p:cNvSpPr txBox="1"/>
          <p:nvPr/>
        </p:nvSpPr>
        <p:spPr>
          <a:xfrm>
            <a:off x="595519" y="1580029"/>
            <a:ext cx="3408829" cy="34716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last step in the code was to put the functions into action.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user input goes through the rotors from</a:t>
            </a:r>
            <a:r>
              <a:rPr lang="en-US" dirty="0">
                <a:solidFill>
                  <a:srgbClr val="00B050"/>
                </a:solidFill>
              </a:rPr>
              <a:t> rotor 3 → rotor 1</a:t>
            </a:r>
            <a:r>
              <a:rPr lang="en-US" dirty="0"/>
              <a:t>, followed by an encryption by the </a:t>
            </a:r>
            <a:r>
              <a:rPr lang="en-US" dirty="0">
                <a:solidFill>
                  <a:srgbClr val="FF6699"/>
                </a:solidFill>
              </a:rPr>
              <a:t>reflector</a:t>
            </a:r>
            <a:r>
              <a:rPr lang="en-US" dirty="0"/>
              <a:t> and then back from </a:t>
            </a:r>
            <a:r>
              <a:rPr lang="en-US" dirty="0">
                <a:solidFill>
                  <a:srgbClr val="FF9933"/>
                </a:solidFill>
              </a:rPr>
              <a:t>rotor 1 → rotor 3</a:t>
            </a:r>
            <a:r>
              <a:rPr lang="en-US" dirty="0"/>
              <a:t>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result goes through the </a:t>
            </a:r>
            <a:r>
              <a:rPr lang="en-US" dirty="0">
                <a:solidFill>
                  <a:srgbClr val="0000FF"/>
                </a:solidFill>
              </a:rPr>
              <a:t>plugboard</a:t>
            </a:r>
            <a:r>
              <a:rPr lang="en-US" dirty="0"/>
              <a:t> once again.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Finally the </a:t>
            </a:r>
            <a:r>
              <a:rPr lang="en-US" dirty="0">
                <a:solidFill>
                  <a:srgbClr val="C00000"/>
                </a:solidFill>
              </a:rPr>
              <a:t>output</a:t>
            </a:r>
            <a:r>
              <a:rPr lang="en-US" dirty="0"/>
              <a:t> is printed.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34" name="Group 2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5143500"/>
            <a:chOff x="12068638" y="0"/>
            <a:chExt cx="123362" cy="6858000"/>
          </a:xfrm>
        </p:grpSpPr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Google Shape;242;p31">
            <a:extLst>
              <a:ext uri="{FF2B5EF4-FFF2-40B4-BE49-F238E27FC236}">
                <a16:creationId xmlns:a16="http://schemas.microsoft.com/office/drawing/2014/main" id="{540CF292-E840-E4E1-46F1-0C1FE3263D07}"/>
              </a:ext>
            </a:extLst>
          </p:cNvPr>
          <p:cNvSpPr txBox="1">
            <a:spLocks/>
          </p:cNvSpPr>
          <p:nvPr/>
        </p:nvSpPr>
        <p:spPr>
          <a:xfrm>
            <a:off x="729450" y="2078875"/>
            <a:ext cx="41526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33" name="Google Shape;243;p31">
            <a:extLst>
              <a:ext uri="{FF2B5EF4-FFF2-40B4-BE49-F238E27FC236}">
                <a16:creationId xmlns:a16="http://schemas.microsoft.com/office/drawing/2014/main" id="{D5D95721-D3DE-7CB1-DC5C-4258C85C8AB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84405" y="1731378"/>
            <a:ext cx="3562351" cy="3025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44;p31">
            <a:extLst>
              <a:ext uri="{FF2B5EF4-FFF2-40B4-BE49-F238E27FC236}">
                <a16:creationId xmlns:a16="http://schemas.microsoft.com/office/drawing/2014/main" id="{93604EB6-5E84-74CE-6D4D-BF4945A6333E}"/>
              </a:ext>
            </a:extLst>
          </p:cNvPr>
          <p:cNvSpPr/>
          <p:nvPr/>
        </p:nvSpPr>
        <p:spPr>
          <a:xfrm>
            <a:off x="4484405" y="4164778"/>
            <a:ext cx="2663400" cy="2898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245;p31">
            <a:extLst>
              <a:ext uri="{FF2B5EF4-FFF2-40B4-BE49-F238E27FC236}">
                <a16:creationId xmlns:a16="http://schemas.microsoft.com/office/drawing/2014/main" id="{D287D42B-F969-28D7-B6AE-49155DE0E41B}"/>
              </a:ext>
            </a:extLst>
          </p:cNvPr>
          <p:cNvSpPr/>
          <p:nvPr/>
        </p:nvSpPr>
        <p:spPr>
          <a:xfrm>
            <a:off x="4484405" y="4467028"/>
            <a:ext cx="2663400" cy="289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246;p31">
            <a:extLst>
              <a:ext uri="{FF2B5EF4-FFF2-40B4-BE49-F238E27FC236}">
                <a16:creationId xmlns:a16="http://schemas.microsoft.com/office/drawing/2014/main" id="{AD895A51-5E47-25C3-FF22-A69ECCD71D55}"/>
              </a:ext>
            </a:extLst>
          </p:cNvPr>
          <p:cNvSpPr/>
          <p:nvPr/>
        </p:nvSpPr>
        <p:spPr>
          <a:xfrm>
            <a:off x="4635330" y="1731378"/>
            <a:ext cx="3150000" cy="921000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247;p31">
            <a:extLst>
              <a:ext uri="{FF2B5EF4-FFF2-40B4-BE49-F238E27FC236}">
                <a16:creationId xmlns:a16="http://schemas.microsoft.com/office/drawing/2014/main" id="{B54E0993-3787-EF36-C57F-B1D539F489F5}"/>
              </a:ext>
            </a:extLst>
          </p:cNvPr>
          <p:cNvSpPr/>
          <p:nvPr/>
        </p:nvSpPr>
        <p:spPr>
          <a:xfrm>
            <a:off x="4635330" y="2698803"/>
            <a:ext cx="2663400" cy="289800"/>
          </a:xfrm>
          <a:prstGeom prst="rect">
            <a:avLst/>
          </a:prstGeom>
          <a:noFill/>
          <a:ln w="2857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48;p31">
            <a:extLst>
              <a:ext uri="{FF2B5EF4-FFF2-40B4-BE49-F238E27FC236}">
                <a16:creationId xmlns:a16="http://schemas.microsoft.com/office/drawing/2014/main" id="{16CA5511-A8FD-7A51-9E7D-867DEAF0C21C}"/>
              </a:ext>
            </a:extLst>
          </p:cNvPr>
          <p:cNvSpPr/>
          <p:nvPr/>
        </p:nvSpPr>
        <p:spPr>
          <a:xfrm>
            <a:off x="4731330" y="3035028"/>
            <a:ext cx="3054000" cy="1020300"/>
          </a:xfrm>
          <a:prstGeom prst="rect">
            <a:avLst/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115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4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F5263-A278-6D3F-8376-06C79A89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841772"/>
            <a:ext cx="3017520" cy="2403100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VIDEO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301752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Enigma - Code Test">
            <a:hlinkClick r:id="" action="ppaction://media"/>
            <a:extLst>
              <a:ext uri="{FF2B5EF4-FFF2-40B4-BE49-F238E27FC236}">
                <a16:creationId xmlns:a16="http://schemas.microsoft.com/office/drawing/2014/main" id="{74E55A39-CEE2-128A-2F72-17319B7C3E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48456" y="1118069"/>
            <a:ext cx="5134772" cy="2793920"/>
          </a:xfrm>
          <a:prstGeom prst="rect">
            <a:avLst/>
          </a:prstGeom>
          <a:ln w="38100">
            <a:solidFill>
              <a:srgbClr val="FF9933"/>
            </a:solidFill>
          </a:ln>
        </p:spPr>
      </p:pic>
    </p:spTree>
    <p:extLst>
      <p:ext uri="{BB962C8B-B14F-4D97-AF65-F5344CB8AC3E}">
        <p14:creationId xmlns:p14="http://schemas.microsoft.com/office/powerpoint/2010/main" val="377608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3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1EB602-B3EF-172C-DB71-6CC76D83A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81851" cy="5144135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739538-A9CC-0495-611A-FC1E05A7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39381"/>
            <a:ext cx="5281851" cy="3805040"/>
          </a:xfrm>
          <a:prstGeom prst="rect">
            <a:avLst/>
          </a:prstGeom>
          <a:gradFill flip="none" rotWithShape="1">
            <a:gsLst>
              <a:gs pos="300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7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C8FBA2-0111-985C-067B-6EEB34A5A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285"/>
            <a:ext cx="4082581" cy="5140644"/>
          </a:xfrm>
          <a:prstGeom prst="rect">
            <a:avLst/>
          </a:prstGeom>
          <a:gradFill>
            <a:gsLst>
              <a:gs pos="0">
                <a:schemeClr val="accent5">
                  <a:alpha val="76000"/>
                </a:schemeClr>
              </a:gs>
              <a:gs pos="46000">
                <a:schemeClr val="accent2">
                  <a:alpha val="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3573F1-437D-2053-4E31-36508DA20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780100" y="19572"/>
            <a:ext cx="3501751" cy="512078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55000"/>
                </a:schemeClr>
              </a:gs>
              <a:gs pos="45000">
                <a:schemeClr val="accent5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A45DD5-674B-4B32-234B-AC6FEAEA1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42" y="881502"/>
            <a:ext cx="3541590" cy="18719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3A8798CC-0BCA-845A-DDD1-105B0971E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0611" y="1293668"/>
            <a:ext cx="2556164" cy="255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93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829</Words>
  <Application>Microsoft Office PowerPoint</Application>
  <PresentationFormat>On-screen Show (16:9)</PresentationFormat>
  <Paragraphs>120</Paragraphs>
  <Slides>21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Wingdings</vt:lpstr>
      <vt:lpstr>Calibri Light</vt:lpstr>
      <vt:lpstr>Arial</vt:lpstr>
      <vt:lpstr>Lato</vt:lpstr>
      <vt:lpstr>Calibri</vt:lpstr>
      <vt:lpstr>Office Theme</vt:lpstr>
      <vt:lpstr>Enigma Cipher</vt:lpstr>
      <vt:lpstr>The History</vt:lpstr>
      <vt:lpstr>Cryptography</vt:lpstr>
      <vt:lpstr>How Does Encryption Work?</vt:lpstr>
      <vt:lpstr>Enigma Cipher Stages</vt:lpstr>
      <vt:lpstr>Overview Enigma Machine Parts</vt:lpstr>
      <vt:lpstr>First Component: The Keyboard</vt:lpstr>
      <vt:lpstr>The “sanitize” Function</vt:lpstr>
      <vt:lpstr>Second Component: The Plugboard</vt:lpstr>
      <vt:lpstr>My Plugboard Settings</vt:lpstr>
      <vt:lpstr>Third Component: The Static Wheel</vt:lpstr>
      <vt:lpstr>Fourth Component: Rotors</vt:lpstr>
      <vt:lpstr>Fifth Component: The Reflector</vt:lpstr>
      <vt:lpstr>Sixth Component: The Lightboard</vt:lpstr>
      <vt:lpstr>Why is the Enigma Cipher so unique?</vt:lpstr>
      <vt:lpstr>Code Implementation</vt:lpstr>
      <vt:lpstr>Implemented Model Details</vt:lpstr>
      <vt:lpstr>Rotor Shift Function</vt:lpstr>
      <vt:lpstr>Encryption Process</vt:lpstr>
      <vt:lpstr>DEMO VIDEO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Enigma Cipher</dc:title>
  <dc:creator>Prashaant Mudgala</dc:creator>
  <cp:lastModifiedBy>Prashaant</cp:lastModifiedBy>
  <cp:revision>19</cp:revision>
  <dcterms:modified xsi:type="dcterms:W3CDTF">2023-08-23T01:41:38Z</dcterms:modified>
</cp:coreProperties>
</file>